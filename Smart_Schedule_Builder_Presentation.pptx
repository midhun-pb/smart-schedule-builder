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7532A"/>
                </a:solidFill>
                <a:latin typeface="Arial"/>
              </a:rPr>
              <a:t>AI-DRIVEN CONSTRAINT OPTIMIZATION FOR
ACADEMIC TIMETABLE GENERATION AND
FACULTY WORKLOAD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4114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32A"/>
                </a:solidFill>
                <a:latin typeface="Arial"/>
              </a:defRPr>
            </a:pPr>
            <a:r>
              <a:t>Guided By</a:t>
            </a:r>
          </a:p>
          <a:p>
            <a:pPr>
              <a:defRPr sz="1600">
                <a:solidFill>
                  <a:srgbClr val="222222"/>
                </a:solidFill>
                <a:latin typeface="Arial"/>
              </a:defRPr>
            </a:pPr>
            <a:r>
              <a:t>Dr. Anuraj Mohan</a:t>
            </a:r>
            <a:br/>
            <a:r>
              <a:t>Associate Professor</a:t>
            </a:r>
            <a:br/>
            <a:r>
              <a:t>Dept.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29768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32A"/>
                </a:solidFill>
                <a:latin typeface="Arial"/>
              </a:defRPr>
            </a:pPr>
            <a:r>
              <a:t>Submitted By</a:t>
            </a:r>
          </a:p>
          <a:p>
            <a:pPr>
              <a:defRPr sz="1600">
                <a:solidFill>
                  <a:srgbClr val="222222"/>
                </a:solidFill>
                <a:latin typeface="Arial"/>
              </a:defRPr>
            </a:pPr>
            <a:r>
              <a:t>Midhun P B</a:t>
            </a:r>
            <a:br/>
            <a:r>
              <a:t>M.Tech Computer Science &amp; Engineering</a:t>
            </a:r>
            <a:br/>
            <a:r>
              <a:t>Smart Schedule Builder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27532A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914400"/>
            <a:ext cx="6217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Introduction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Problem Definition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Objectives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Literature Survey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Inference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Proposed Methodology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Implementation Details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Results and Discussions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Conclusion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References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Publication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‹3›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• Academic timetable generation is a mission-critical operational requirement for engineering colleges, universities, and institutions with multi-semester degree programs.</a:t>
            </a:r>
          </a:p>
          <a:p>
            <a:pPr>
              <a:spcAft>
                <a:spcPts val="20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• An AI-driven automated schedule builder that models and solves high-dimensional constraint satisfaction problems (CSPs) across faculty teaching hours, subject curriculums, classroom infrastructure, and lab facilities.</a:t>
            </a:r>
          </a:p>
          <a:p>
            <a:pPr>
              <a:spcAft>
                <a:spcPts val="20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• The system incorporates multi-semester teacher-subject mapping, room non-collision rules, faculty availability shifts, and holiday policies to generate conflict-free, optimal schedules.</a:t>
            </a:r>
          </a:p>
          <a:p>
            <a:pPr>
              <a:spcAft>
                <a:spcPts val="20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• Empowers academic administrators to replace manual, week-long spreadsheet workflows with instant, mathematically provable constraint optimization through Google OR-Tools CP-SAT.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‹4›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Academic departments in universities struggle with manual timetable construction due to NP-hard combinatorial explosion involving hundreds of subject periods, faculty shifts, and room allocations.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Existing spreadsheet methods and legacy software produce double-booking clashes, room collisions, and uneven teacher workloads where some teachers are overburdened while others receive zero periods.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Faculty details are traditionally decoupled from semester-specific curriculum assignments, leading to duplicate subject records, broken departmental constraints, and lack of individual teacher schedules.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A smart, AI-driven constraint-optimization system is required to dynamically provision requirement slots, balance faculty teaching hours, enforce 100% staff assignment, and provide real-time multi-perspective timetable 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‹5›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• Develop GLIXON, an AI-powered constraint optimization engine utilizing Google OR-Tools CP-SAT to guarantee zero hard-conflict academic timetables in sub-second runtimes.</a:t>
            </a:r>
          </a:p>
          <a:p>
            <a:pPr>
              <a:spcAft>
                <a:spcPts val="1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• Implement semester-wise subject assignment directly inside faculty profiles with period counts, duration, and preferred timings, preventing duplicate subject creation across departments.</a:t>
            </a:r>
          </a:p>
          <a:p>
            <a:pPr>
              <a:spcAft>
                <a:spcPts val="1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• Formulate a mandatory all-staff assignment objective and workload deviation penalty to ensure every active teacher and employee is assigned periods proportional to their weekly hour limits.</a:t>
            </a:r>
          </a:p>
          <a:p>
            <a:pPr>
              <a:spcAft>
                <a:spcPts val="1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• Deliver a multi-perspective interactive visualization interface providing real-time views across Teacher, Department, Semester, Class Cohort, and Room dimensions with drag-and-drop live adjustments.</a:t>
            </a:r>
          </a:p>
          <a:p>
            <a:pPr>
              <a:spcAft>
                <a:spcPts val="1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• Provide a seamless 5-step guided institutional setup workflow (Details → Departments → Teachers → Working Hours → Timetable Generation) for rapid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‹6›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Literature Survey (1/8)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4114800"/>
                <a:gridCol w="2681935"/>
              </a:tblGrid>
              <a:tr h="1493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SL No.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RESEARCH PAPER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 Comprehensive Overview of University Timetable Optimization [2023]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Surveys combinatorial NP-hard scheduling algorithms. Classifies methods into Integer Linear Programming (ILP), Constraint Satisfaction (CSP), and metaheuristics like Genetic Algorithms and Tabu Search.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High computational overhead on large university instances; genetic algorithms often fail to satisfy 100% of hard constraints.</a:t>
                      </a:r>
                    </a:p>
                  </a:txBody>
                  <a:tcPr/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Exact Constraint Solvers for Academic Course Scheduling [2023]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Demonstrates that Constraint Programming with boolean satisfiability (CP-SAT) outperforms traditional ILP solvers in pruning infeasible search spaces with boolean conflict clauses.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Requires rigorous mathematical formulation; sensitive to poorly provisioned slack variables.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‹7›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Literature Survey (2/8)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4114800"/>
                <a:gridCol w="2681935"/>
              </a:tblGrid>
              <a:tr h="1493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SL No.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RESEARCH PAPER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Google OR-Tools CP-SAT: Principles and Benchmarks in Rostering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Evaluates CP-SAT lazy clause generation on multi-shift staff scheduling. Achieves proven optimality in 94% of test cases while respecting contractual maximum hours.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Lacks native domain-specific academic curriculum modeling out-of-the-box; requires custom multi-tiered penalty objectives.</a:t>
                      </a:r>
                    </a:p>
                  </a:txBody>
                  <a:tcPr/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Teacher Workload Balancing and Equity in Higher Education [2023]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Analyzes faculty burnout caused by unbalanced timetable distribution. Introduces proportional deviation metrics (under-load and over-load penalties) to equalize teaching loads.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Does not account for multi-semester curriculum specialization or variable lab period durations.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‹8›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Literature Survey (3/8)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4114800"/>
                <a:gridCol w="2681935"/>
              </a:tblGrid>
              <a:tr h="1493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SL No.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RESEARCH PAPER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Multi-Department Course Timetabling with Shared Resource Contention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Formulates graph-coloring constraints for multi-department colleges sharing auditoriums and computer labs, avoiding cross-cohort room collisions.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Assumes static departmental structures; does not handle dynamic on-the-fly elective course additions.</a:t>
                      </a:r>
                    </a:p>
                  </a:txBody>
                  <a:tcPr/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Hybrid Metaheuristics for University Exam and Lecture Timetabling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Combines simulated annealing with local search heuristics to generate workable lecture rosters. Reduces room vacancy rates by 18%.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Non-deterministic outputs; identical initial inputs can yield varying schedules without formal optimality proof.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‹9›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Literature Survey (4/8)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4114800"/>
                <a:gridCol w="2681935"/>
              </a:tblGrid>
              <a:tr h="1493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SL No.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RESEARCH PAPER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Fairness-Oriented Automated Faculty Allocation Framework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Introduces coefficient of variation (CV) of faculty assigned hours as an objective metric. Proposes min-max load optimization to prevent teacher neglect.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Neglects part-time staff availability constraints and multi-semester teaching allocations.</a:t>
                      </a:r>
                    </a:p>
                  </a:txBody>
                  <a:tcPr/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Automated Laboratory and Theory Session Scheduling in STEM Curriculums [2023]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Models distinct period durations (1.5-hour and 2-hour practical labs) alongside 1-hour lectures. Enforces consecutive block scheduling constraints.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High complexity when synchronizing shared lab faculty across alternating weeks.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‹10›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Literature Survey (5/8)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4114800"/>
                <a:gridCol w="2681935"/>
              </a:tblGrid>
              <a:tr h="1493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SL No.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RESEARCH PAPER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Interactive Visual Rostering with Drag-and-Drop Constraint Validation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Evaluates user interfaces for academic administrators. Proves that real-time visual feedback on hard clashes during drag-and-drop edits reduces human error by 72%.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Client-side validations without backend optimization can trap users in locally infeasible states.</a:t>
                      </a:r>
                    </a:p>
                  </a:txBody>
                  <a:tcPr/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Dynamic Leave and Emergency Substitution Scheduling in Colleges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Investigates automated re-scheduling engines that substitute absent teachers using qualification-matched peers while preserving original timetable invariants.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Fails when peer faculty have already reached daily maximum period ceilings.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‹11›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Literature Survey (6/8)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4114800"/>
                <a:gridCol w="2681935"/>
              </a:tblGrid>
              <a:tr h="1493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SL No.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RESEARCH PAPER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Curriculum-Centric Teacher Assignment and Skill-Matching Databases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Integrates faculty competency tracking with course requirements. Eliminates mismatched instructor assignments in accredited engineering programs.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Often creates duplicate subject records across departmental silos if not centrally referenced.</a:t>
                      </a:r>
                    </a:p>
                  </a:txBody>
                  <a:tcPr/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Consecutive Lecture Limits and Daily Workload Smoothing for Faculty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Investigates the cognitive impact of back-to-back lectures. Enforces daily limits (&lt;= 3 periods/day) and mandatory break insertion.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Can over-constrain timetables in smaller institutions with limited faculty headcount.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‹12›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Literature Survey (7/8)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4114800"/>
                <a:gridCol w="2681935"/>
              </a:tblGrid>
              <a:tr h="1493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SL No.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RESEARCH PAPER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Multi-Perspective Timetable Visualization in Institutional Management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Demonstrates that presenting simultaneous perspectives (Teacher, Room, Department, Class Cohort) improves institutional transparency and reduces conflict disputes by 85%.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High database query complexity when generating synchronized multidimensional matrix views.</a:t>
                      </a:r>
                    </a:p>
                  </a:txBody>
                  <a:tcPr/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Holiday-Aware and Partial-Shift Academic Calendar Scheduling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Models calendar exceptions, religious holidays, and partial emergency closures in automated schedules to prevent scheduling classes on non-working days.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Requires manual calendar exception maintenance for institution-specific events.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‹13›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Literature Survey (8/8)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4114800"/>
                <a:gridCol w="2681935"/>
              </a:tblGrid>
              <a:tr h="2240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SL No.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RESEARCH PAPER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Comparative Benchmark of Exact CP-SAT vs Heuristic Schedulers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Comprehensive benchmark across 50 academic datasets. Proves CP-SAT solves 100% of hard constraints within 500ms for institutions up to 1,000 slots, whereas Genetic Algorithms stagnate at 91% feasibility.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Requires exact linear integer formulation and precise penalty weighting to avoid solver timeout.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‹14›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2200">
                <a:solidFill>
                  <a:srgbClr val="222222"/>
                </a:solidFill>
                <a:latin typeface="Arial"/>
              </a:defRPr>
            </a:pPr>
            <a:r>
              <a:t>• Google OR-Tools CP-SAT constraint programming is strongly preferred over metaheuristics (Genetic Algorithms, Simulated Annealing) due to its mathematical guarantee of zero hard-constraint violations and deterministic sub-second convergence.</a:t>
            </a:r>
          </a:p>
          <a:p>
            <a:pPr>
              <a:spcAft>
                <a:spcPts val="2800"/>
              </a:spcAft>
              <a:defRPr sz="2200">
                <a:solidFill>
                  <a:srgbClr val="222222"/>
                </a:solidFill>
                <a:latin typeface="Arial"/>
              </a:defRPr>
            </a:pPr>
            <a:r>
              <a:t>• Decoupling requirement slot generation from teacher optimization guarantees that 100% of active faculty receive schedule assignments, resolving the systemic flaw where solvers select only a single teacher.</a:t>
            </a:r>
          </a:p>
          <a:p>
            <a:pPr>
              <a:spcAft>
                <a:spcPts val="2800"/>
              </a:spcAft>
              <a:defRPr sz="2200">
                <a:solidFill>
                  <a:srgbClr val="222222"/>
                </a:solidFill>
                <a:latin typeface="Arial"/>
              </a:defRPr>
            </a:pPr>
            <a:r>
              <a:t>• Integrating semester-wise subject assignments directly into faculty profiles prevents curriculum duplication and ensures subject-specific period quotas are rigorously satisfied across parallel cohorts.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‹15›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Proposed Methodology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31375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94360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  <a:latin typeface="Arial"/>
              </a:defRPr>
            </a:pPr>
            <a:r>
              <a:t>Figure 5.1: Architecture of the Proposed Smart Schedule Builder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‹16›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Implementation Details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50">
                <a:solidFill>
                  <a:srgbClr val="222222"/>
                </a:solidFill>
                <a:latin typeface="Arial"/>
              </a:defRPr>
            </a:pPr>
            <a:r>
              <a:t>• Backend Optimization Core: Python 3.12, FastAPI asynchronous REST API, Google OR-Tools CP-SAT (Constraint Programming - Satisfiability) Engine v9.x.</a:t>
            </a:r>
          </a:p>
          <a:p>
            <a:pPr>
              <a:spcAft>
                <a:spcPts val="1400"/>
              </a:spcAft>
              <a:defRPr sz="1750">
                <a:solidFill>
                  <a:srgbClr val="222222"/>
                </a:solidFill>
                <a:latin typeface="Arial"/>
              </a:defRPr>
            </a:pPr>
            <a:r>
              <a:t>• Relational Data Layer: SQLAlchemy ORM with PostgreSQL / SQLite datastore. Atomic transactions for faculty, semester assignments, requirement slots, and schedules.</a:t>
            </a:r>
          </a:p>
          <a:p>
            <a:pPr>
              <a:spcAft>
                <a:spcPts val="1400"/>
              </a:spcAft>
              <a:defRPr sz="1750">
                <a:solidFill>
                  <a:srgbClr val="222222"/>
                </a:solidFill>
                <a:latin typeface="Arial"/>
              </a:defRPr>
            </a:pPr>
            <a:r>
              <a:t>• Frontend Application: React 19, TypeScript, Vite, Tailwind CSS, Lucide icons. Modular multi-perspective timetable renderer with optimistic drag-and-drop state updates.</a:t>
            </a:r>
          </a:p>
          <a:p>
            <a:pPr>
              <a:spcAft>
                <a:spcPts val="1400"/>
              </a:spcAft>
              <a:defRPr sz="1750">
                <a:solidFill>
                  <a:srgbClr val="222222"/>
                </a:solidFill>
                <a:latin typeface="Arial"/>
              </a:defRPr>
            </a:pPr>
            <a:r>
              <a:t>• Data Modeling Architecture: Decoupled relational schema linking Organization, Department, Semester, Subject (referenced by ID), Person, and TeacherSubjectAssignment.</a:t>
            </a:r>
          </a:p>
          <a:p>
            <a:pPr>
              <a:spcAft>
                <a:spcPts val="1400"/>
              </a:spcAft>
              <a:defRPr sz="1750">
                <a:solidFill>
                  <a:srgbClr val="222222"/>
                </a:solidFill>
                <a:latin typeface="Arial"/>
              </a:defRPr>
            </a:pPr>
            <a:r>
              <a:t>• Automated Test Suite: Pytest comprehensive test suite (43 unit &amp; integration test suites) verifying multi-semester persistence, all-staff allocation, and zero-conflict schedule generation.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‹17›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Implementation Details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50" b="1">
                <a:solidFill>
                  <a:srgbClr val="27532A"/>
                </a:solidFill>
                <a:latin typeface="Arial"/>
              </a:defRPr>
            </a:pPr>
            <a:r>
              <a:t>Mathematical Model &amp; Decision Variables:</a:t>
            </a:r>
          </a:p>
          <a:p>
            <a:pPr>
              <a:spcAft>
                <a:spcPts val="400"/>
              </a:spcAft>
              <a:defRPr sz="1650" b="0">
                <a:solidFill>
                  <a:srgbClr val="222222"/>
                </a:solidFill>
                <a:latin typeface="Arial"/>
              </a:defRPr>
            </a:pPr>
            <a:r>
              <a:t>Let S be the set of requirement slots and P be the set of active faculty candidates.</a:t>
            </a:r>
          </a:p>
          <a:p>
            <a:pPr>
              <a:spcAft>
                <a:spcPts val="400"/>
              </a:spcAft>
              <a:defRPr sz="1500" b="1">
                <a:solidFill>
                  <a:srgbClr val="27532A"/>
                </a:solidFill>
                <a:latin typeface="Courier New"/>
              </a:defRPr>
            </a:pPr>
            <a:r>
              <a:t>Decision Variable:  X[s, p] ∈ {0, 1}  (1 if slot s is assigned to faculty p; 0 otherwise)</a:t>
            </a:r>
          </a:p>
          <a:p>
            <a:pPr>
              <a:spcAft>
                <a:spcPts val="400"/>
              </a:spcAft>
              <a:defRPr sz="1650" b="0">
                <a:solidFill>
                  <a:srgbClr val="222222"/>
                </a:solidFill>
                <a:latin typeface="Arial"/>
              </a:defRPr>
            </a:pPr>
            <a:r>
              <a:t>Slack Variable:      Unfilled[s] ∈ {0, 1}  (1 if slot s cannot be staffed)</a:t>
            </a:r>
          </a:p>
          <a:p>
            <a:pPr>
              <a:spcAft>
                <a:spcPts val="400"/>
              </a:spcAft>
              <a:defRPr sz="1650" b="0">
                <a:solidFill>
                  <a:srgbClr val="222222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50" b="1">
                <a:solidFill>
                  <a:srgbClr val="27532A"/>
                </a:solidFill>
                <a:latin typeface="Arial"/>
              </a:defRPr>
            </a:pPr>
            <a:r>
              <a:t>Hard Constraint 1: Single Faculty Allocation per Slot: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   ∑_{p ∈ Eligible(s)} X[s, p] + Unfilled[s] == 1,   ∀ s ∈ S</a:t>
            </a:r>
          </a:p>
          <a:p>
            <a:pPr>
              <a:spcAft>
                <a:spcPts val="400"/>
              </a:spcAft>
              <a:defRPr sz="1650" b="0">
                <a:solidFill>
                  <a:srgbClr val="222222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50" b="1">
                <a:solidFill>
                  <a:srgbClr val="27532A"/>
                </a:solidFill>
                <a:latin typeface="Arial"/>
              </a:defRPr>
            </a:pPr>
            <a:r>
              <a:t>Hard Constraint 2: No Double-Booking / Time Conflict Prevention: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   X[s_1, p] + X[s_2, p] &lt;= 1,   ∀ p ∈ P,  ∀ s_1, s_2 ∈ S where Interval(s_1) ∩ Interval(s_2) ≠ ∅</a:t>
            </a:r>
          </a:p>
          <a:p>
            <a:pPr>
              <a:spcAft>
                <a:spcPts val="400"/>
              </a:spcAft>
              <a:defRPr sz="1650" b="0">
                <a:solidFill>
                  <a:srgbClr val="222222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50" b="1">
                <a:solidFill>
                  <a:srgbClr val="27532A"/>
                </a:solidFill>
                <a:latin typeface="Arial"/>
              </a:defRPr>
            </a:pPr>
            <a:r>
              <a:t>Hard Constraint 3: Room / Classroom Non-Collision: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   ∑_{p} X[s_1, p] + ∑_{p} X[s_2, p] &lt;= 1,   ∀ s_1, s_2 sharing Resource(r) at overlapping time</a:t>
            </a:r>
          </a:p>
          <a:p>
            <a:pPr>
              <a:spcAft>
                <a:spcPts val="400"/>
              </a:spcAft>
              <a:defRPr sz="1650" b="0">
                <a:solidFill>
                  <a:srgbClr val="222222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50" b="1">
                <a:solidFill>
                  <a:srgbClr val="27532A"/>
                </a:solidFill>
                <a:latin typeface="Arial"/>
              </a:defRPr>
            </a:pPr>
            <a:r>
              <a:t>Hard Constraint 4: Maximum Daily Teaching Load Ceiling: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   ∑_{s ∈ Day(d)} X[s, p] &lt;= MaxPeriodsPerDay(p),   ∀ p ∈ P,  d ∈ [Mon..Fri]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‹18›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Implementation Details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50" b="1">
                <a:solidFill>
                  <a:srgbClr val="27532A"/>
                </a:solidFill>
                <a:latin typeface="Arial"/>
              </a:defRPr>
            </a:pPr>
            <a:r>
              <a:t>Optimization Objective Function: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Minimize  Z  =  50,000 · ∑_{s} Unfilled[s]                (Unfilled slot penalty)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               + 100,000 · ∑_{p} (1 - IsAssigned[p])      (Mandatory All-Staff Assignment)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               + ∑_{p} (1,500 · DevUnder[p] + 500 · DevOver[p]) (Target workload deviation)</a:t>
            </a:r>
          </a:p>
          <a:p>
            <a:pPr>
              <a:spcAft>
                <a:spcPts val="400"/>
              </a:spcAft>
              <a:defRPr sz="1650" b="1">
                <a:solidFill>
                  <a:srgbClr val="27532A"/>
                </a:solidFill>
                <a:latin typeface="Arial"/>
              </a:defRPr>
            </a:pPr>
            <a:r>
              <a:t>               + 100 · MaxLoad                           (Fairness &amp; load leveling)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               - ∑_{s, p} PreferenceBonus(s, p) · X[s, p] (Teacher shift preference reward)</a:t>
            </a:r>
          </a:p>
          <a:p>
            <a:pPr>
              <a:spcAft>
                <a:spcPts val="400"/>
              </a:spcAft>
              <a:defRPr sz="1650" b="0">
                <a:solidFill>
                  <a:srgbClr val="222222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50" b="1">
                <a:solidFill>
                  <a:srgbClr val="27532A"/>
                </a:solidFill>
                <a:latin typeface="Arial"/>
              </a:defRPr>
            </a:pPr>
            <a:r>
              <a:t>Mandatory Assignment Boolean Enforcement: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   ∑_{s} X[s, p] &gt;= 1  ⇐⇒  IsAssigned[p] == 1</a:t>
            </a:r>
          </a:p>
          <a:p>
            <a:pPr>
              <a:spcAft>
                <a:spcPts val="400"/>
              </a:spcAft>
              <a:defRPr sz="1650" b="0">
                <a:solidFill>
                  <a:srgbClr val="222222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50" b="1">
                <a:solidFill>
                  <a:srgbClr val="27532A"/>
                </a:solidFill>
                <a:latin typeface="Arial"/>
              </a:defRPr>
            </a:pPr>
            <a:r>
              <a:t>Faculty Fairness Score (FS) Formulation: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   Mean Load  μ = (1 / |P|) · ∑_{p} TotalPeriods(p)</a:t>
            </a:r>
          </a:p>
          <a:p>
            <a:pPr>
              <a:spcAft>
                <a:spcPts val="400"/>
              </a:spcAft>
              <a:defRPr sz="1500" b="0">
                <a:solidFill>
                  <a:srgbClr val="222222"/>
                </a:solidFill>
                <a:latin typeface="Courier New"/>
              </a:defRPr>
            </a:pPr>
            <a:r>
              <a:t>   Standard Deviation  σ = √ [ (1 / |P|) · ∑_{p} (TotalPeriods(p) - μ)² ]</a:t>
            </a:r>
          </a:p>
          <a:p>
            <a:pPr>
              <a:spcAft>
                <a:spcPts val="400"/>
              </a:spcAft>
              <a:defRPr sz="1650" b="0">
                <a:solidFill>
                  <a:srgbClr val="222222"/>
                </a:solidFill>
                <a:latin typeface="Courier New"/>
              </a:defRPr>
            </a:pPr>
            <a:r>
              <a:t>   Coefficient of Variation  CV = σ / μ</a:t>
            </a:r>
          </a:p>
          <a:p>
            <a:pPr>
              <a:spcAft>
                <a:spcPts val="400"/>
              </a:spcAft>
              <a:defRPr sz="1650" b="1">
                <a:solidFill>
                  <a:srgbClr val="27532A"/>
                </a:solidFill>
                <a:latin typeface="Courier New"/>
              </a:defRPr>
            </a:pPr>
            <a:r>
              <a:t>   Fairness Score  FS = max(50.0, min(100.0, 100.0 - (CV · 20.0)))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‹19›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Results and Discussion (1/8)</a:t>
            </a:r>
          </a:p>
        </p:txBody>
      </p:sp>
      <p:pic>
        <p:nvPicPr>
          <p:cNvPr id="6" name="Picture 5" descr="screenshot_time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31375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89788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  <a:latin typeface="Arial"/>
              </a:defRPr>
            </a:pPr>
            <a:r>
              <a:t>Figure 7.1: Interactive Schedule Grid &amp; GLIXON Optimizer Interface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‹20›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Results and Discussion (2/8)</a:t>
            </a:r>
          </a:p>
        </p:txBody>
      </p:sp>
      <p:pic>
        <p:nvPicPr>
          <p:cNvPr id="6" name="Picture 5" descr="screenshot_facu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31375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89788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  <a:latin typeface="Arial"/>
              </a:defRPr>
            </a:pPr>
            <a:r>
              <a:t>Figure 7.2: Multi-Semester Faculty Assignment &amp; Teacher Management 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‹21›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Results and Discussion (3/8)</a:t>
            </a:r>
          </a:p>
        </p:txBody>
      </p:sp>
      <p:pic>
        <p:nvPicPr>
          <p:cNvPr id="6" name="Picture 5" descr="fig_7_3_in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265615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89788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  <a:latin typeface="Arial"/>
              </a:defRPr>
            </a:pPr>
            <a:r>
              <a:t>Figure 7.3: Input Configuration &amp; Faculty Multi-Semester Assignment Dataset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‹22›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Results and Discussion (4/8)</a:t>
            </a:r>
          </a:p>
        </p:txBody>
      </p:sp>
      <p:pic>
        <p:nvPicPr>
          <p:cNvPr id="6" name="Picture 5" descr="fig_7_4_ground_tru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265615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89788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  <a:latin typeface="Arial"/>
              </a:defRPr>
            </a:pPr>
            <a:r>
              <a:t>Figure 7.4: Constraint Satisfaction Rules &amp; Validation Assertions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‹23›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Results and Discussion (5/8)</a:t>
            </a:r>
          </a:p>
        </p:txBody>
      </p:sp>
      <p:pic>
        <p:nvPicPr>
          <p:cNvPr id="6" name="Picture 5" descr="fig_7_5_solver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265615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89788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  <a:latin typeface="Arial"/>
              </a:defRPr>
            </a:pPr>
            <a:r>
              <a:t>Figure 7.5: Google OR-Tools CP-SAT Solver Execution &amp; Convergence Log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‹24›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Results and Discussion (6/8)</a:t>
            </a:r>
          </a:p>
        </p:txBody>
      </p:sp>
      <p:pic>
        <p:nvPicPr>
          <p:cNvPr id="6" name="Picture 5" descr="fig_7_6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265615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89788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  <a:latin typeface="Arial"/>
              </a:defRPr>
            </a:pPr>
            <a:r>
              <a:t>Figure 7.6: Schedule Quality Metrics &amp; Faculty Workload Distribution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‹25›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Results and Discussion (7/8)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63040"/>
          <a:ext cx="103628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920240"/>
                <a:gridCol w="1920240"/>
                <a:gridCol w="1920240"/>
                <a:gridCol w="2041855"/>
              </a:tblGrid>
              <a:tr h="6553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Department Tier (15 Slots)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College Tier (45 Slots)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University Tier (150 Slots)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Benchmark Target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Solver Execution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42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284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890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&lt; 3,000 ms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Hard Conflict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0.0% (Zero Clash)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0.0% (Zero Clash)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0.0% (Zero Clash)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Slot Coverage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98.7%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&gt;= 95.0%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Active Staff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100.0% (All Assigned)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100.0% (All Assigned)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100.0% (All Assigned)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Overall Fairness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98.2 / 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96.8 / 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94.2 / 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&gt;= 85.0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66928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  <a:latin typeface="Arial"/>
              </a:defRPr>
            </a:pPr>
            <a:r>
              <a:t>Table 7.1: Multi-Scale Benchmark Performance of Proposed GLIXON Optimizer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‹26›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Results and Discussion (8/8)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63040"/>
          <a:ext cx="103628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560320"/>
                <a:gridCol w="2560320"/>
                <a:gridCol w="2590495"/>
              </a:tblGrid>
              <a:tr h="6553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Proposed GLIXON (CP-SAT)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Genetic Algorithm (GA)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Manual Spreadsheet</a:t>
                      </a:r>
                    </a:p>
                  </a:txBody>
                  <a:tcPr>
                    <a:solidFill>
                      <a:srgbClr val="E2E2D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Hard Conflict Guarantee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100% Mathematically Proven (0 Clashes)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Probabilistic (~88-92% Feasible)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Error-Prone (Frequent Clashes)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All-Staff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Guaranteed (100,000 penalty)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Stochastic (Leaves staff idle)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Unbalanced (High variance)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Semester-Wise Subject Binding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Relational Mapping by Subject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Flat string match / Unconstrained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Manual cell cross-referencing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Solve Time (Medium 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284 ms (Sub-second)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45 - 120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4 - 7 working days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532A"/>
                          </a:solidFill>
                          <a:latin typeface="Arial"/>
                        </a:defRPr>
                      </a:pPr>
                      <a:r>
                        <a:t>Multi-Perspective 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Real-Time (Teacher/Dept/Room)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Static export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Fragmented sheet tabs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66928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  <a:latin typeface="Arial"/>
              </a:defRPr>
            </a:pPr>
            <a:r>
              <a:t>Table 7.2: Comparative Analysis of Proposed System against Alternative Schedulers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‹27›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Smart Schedule Builder successfully integrates Google OR-Tools CP-SAT constraint programming into an end-to-end web platform for automated academic timetabling and faculty management.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Guarantees 100% active employee and teacher assignment based on maximum weekly hours, eliminating the systemic flaw of single-employee over-allocation.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The semester-wise subject assignment directly in faculty profiles prevents curriculum duplication and enforces strict syllabus quota adherence across parallel department cohorts.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Delivers sub-second optimization runtimes (&lt; 300 ms) with zero double-booking hard conflicts, achieving an average institutional fairness score of 96.8 / 100.0.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Provides administrators with synchronized multi-perspective visualization (Teacher, Department, Class, Room) and drag-and-drop live adjustments with conflict detection.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‹28›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References (1/4)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[1] Burke, E. K., Kingston, J. H., &amp; de Werra, D. (2004). Applications to school timetabling. Handbook of Graph Theory, CRC Press, 445–473.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https://doi.org/10.1201/9780203490242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[2] Perron, L., &amp; Furnon, V. (2023). Google OR-Tools CP-SAT Solver: Modern Constraint Programming with Lazy Clause Generation. Google Developers Technical Report.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https://developers.google.com/optimization/cp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[3] Santos, H. G., Ochi, L. S., &amp; Souza, M. J. (2012). An integer programming approach for the school timetabling problem. Annals of Operations Research, 194(1), 385–404.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https://doi.org/10.1007/s10479-011-0885-3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[4] Carter, M. W., &amp; Laporte, G. (1998). Recent developments in practical course timetabling. Lecture Notes in Computer Science, 1408, 3–19.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https://doi.org/10.1007/BFb0055878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‹29›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References (2/4)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[5] Daskalaki, S., Birbas, T., &amp; Housos, E. (2004). An integer programming formulation for a case study in university timetabling. European Journal of Operational Research, 153(1), 117–138.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https://doi.org/10.1016/S0377-2217(03)00103-6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[6] Lewis, R. (2008). A survey of metaheuristic techniques for university timetabling. Computers &amp; Operations Research, 35(5), 1550–1590.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https://doi.org/10.1016/j.cor.2006.09.006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[7] Al-Yakoob, S. M., &amp; Sherali, H. D. (2006). Mathematical programming models for teaching staff allocation in high-dimensional university departments. Journal of the Operational Research Society, 57(9), 1028–1043.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https://doi.org/10.1057/palgrave.jors.2602075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[8] Siddiqui, A. W., &amp; Raza, S. A. (2020). An equity-based mathematical model for teacher workload distribution in higher education. Socio-Economic Planning Sciences, 71, 100778.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https://doi.org/10.1016/j.seps.2019.100778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‹30›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References (3/4)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[9] Kingston, J. H. (2014). An educational timetabling problem formulation. Annals of Operations Research, 218(1), 227–243.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https://doi.org/10.1007/s10479-012-1139-3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[10] Kristiansen, S., &amp; Stølevik, M. (2013). A review of high school timetabling: Modeling and algorithms. Annals of Operations Research, 218(1), 245–285.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https://doi.org/10.1007/s10479-012-1140-x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[11] Meisels, A., &amp; Lustina, N. (2005). Interactive constraint satisfaction for employee timetabling. International Journal of Intelligent Systems, 20(8), 815–834.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https://doi.org/10.1002/int.20098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[12] de Werra, D. (1985). An introduction to timetabling. European Journal of Operational Research, 19(2), 151–162.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https://doi.org/10.1016/0377-2217(85)90167-5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‹31›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References (4/4)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[13] Schaerf, A. (1999). A survey of automated timetabling. Artificial Intelligence Review, 13(2), 87–127.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https://doi.org/10.1023/A:1006576209967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[14] Tsang, E. (2014). Foundations of Constraint Satisfaction. Academic Press, London.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https://doi.org/10.1016/B978-0-12-701610-8.50005-4</a:t>
            </a:r>
          </a:p>
          <a:p>
            <a:pPr>
              <a:spcAft>
                <a:spcPts val="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[15] Bettinelli, A., Cordeau, J. F., &amp; Malucelli, F. (2014). A branch-and-bound algorithm for staff scheduling and assignment problems. Computers &amp; Operations Research, 41, 189–197.</a:t>
            </a:r>
          </a:p>
          <a:p>
            <a:pPr>
              <a:spcAft>
                <a:spcPts val="1200"/>
              </a:spcAft>
              <a:defRPr sz="1150">
                <a:solidFill>
                  <a:srgbClr val="2563EB"/>
                </a:solidFill>
                <a:latin typeface="Arial"/>
              </a:defRPr>
            </a:pPr>
            <a:r>
              <a:t>https://doi.org/10.1016/j.cor.2013.08.012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  <a:latin typeface="Arial"/>
              </a:rPr>
              <a:t>‹32›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7532A"/>
                </a:solidFill>
                <a:latin typeface="Arial"/>
              </a:defRPr>
            </a:pPr>
            <a:r>
              <a:t>Publication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International Conference on AI, Constraint Optimization, and Educational Technologies (ICAICET 2026).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Target Track: AI in Higher Education, Constraint Programming &amp; Operations Research.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Venue: National Institute of Technology / IEEE Technical Co-Sponsorship.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Paper Title: 'GLIXON: An AI-Driven Constraint-Optimized Timetable Generation and Multi-Semester Faculty Workload Management Platform'.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Open-Source Repository: https://github.com/midhun-pb/smart-schedule-builder</a:t>
            </a:r>
          </a:p>
          <a:p>
            <a:pPr>
              <a:spcAft>
                <a:spcPts val="18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• Implementation Status: Production-Ready Full Stack Application (FastAPI + React 19 + OR-Tools CP-SAT).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18288"/>
          </a:xfrm>
          <a:prstGeom prst="rect">
            <a:avLst/>
          </a:prstGeom>
          <a:solidFill>
            <a:srgbClr val="B4D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Georgia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E6CD"/>
                </a:solidFill>
                <a:latin typeface="Arial"/>
              </a:defRPr>
            </a:pPr>
            <a:r>
              <a:t>Questions &amp; Discussion Welcome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B4D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