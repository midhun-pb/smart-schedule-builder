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73152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D5A27"/>
                </a:solidFill>
                <a:latin typeface="Arial"/>
              </a:defRPr>
            </a:pPr>
            <a:r>
              <a:t>SMART SCHEDULE BUILDER</a:t>
            </a:r>
          </a:p>
          <a:p>
            <a:pPr>
              <a:spcBef>
                <a:spcPts val="800"/>
              </a:spcBef>
              <a:defRPr sz="1800">
                <a:solidFill>
                  <a:srgbClr val="4B5563"/>
                </a:solidFill>
                <a:latin typeface="Arial"/>
              </a:defRPr>
            </a:pPr>
            <a:r>
              <a:t>An Enterprise Multi-Domain Constraint-Optimized Rostering &amp; Timetabling Platform</a:t>
            </a:r>
          </a:p>
          <a:p>
            <a:pPr>
              <a:spcBef>
                <a:spcPts val="1000"/>
              </a:spcBef>
              <a:defRPr sz="1300" i="1">
                <a:solidFill>
                  <a:srgbClr val="387231"/>
                </a:solidFill>
                <a:latin typeface="Arial"/>
              </a:defRPr>
            </a:pPr>
            <a:r>
              <a:t>Unified Automated Scheduling Architecture for University, Corporate, and Aviation Sectors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657600"/>
            <a:ext cx="1072865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931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5A27"/>
                </a:solidFill>
                <a:latin typeface="Arial"/>
              </a:defRPr>
            </a:pPr>
            <a:r>
              <a:t>PRESENTED BY</a:t>
            </a:r>
          </a:p>
          <a:p>
            <a:pPr>
              <a:spcBef>
                <a:spcPts val="600"/>
              </a:spcBef>
              <a:defRPr sz="1600" b="1">
                <a:solidFill>
                  <a:srgbClr val="1F2937"/>
                </a:solidFill>
                <a:latin typeface="Arial"/>
              </a:defRPr>
            </a:pPr>
            <a:r>
              <a:t>Midhun P. B.</a:t>
            </a:r>
          </a:p>
          <a:p>
            <a:pPr>
              <a:defRPr sz="1100">
                <a:solidFill>
                  <a:srgbClr val="4B5563"/>
                </a:solidFill>
                <a:latin typeface="Arial"/>
              </a:defRPr>
            </a:pPr>
            <a:r>
              <a:t>Lead Developer &amp; System Architect</a:t>
            </a:r>
            <a:br/>
            <a:r>
              <a:t>Full-Stack Constraint Systems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931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5A27"/>
                </a:solidFill>
                <a:latin typeface="Arial"/>
              </a:defRPr>
            </a:pPr>
            <a:r>
              <a:t>CORE TECHNOLOGIES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rial"/>
              </a:defRPr>
            </a:pPr>
            <a:r>
              <a:t>• Google OR-Tools CP-SAT Solver</a:t>
            </a:r>
            <a:br/>
            <a:r>
              <a:t>• FastAPI &amp; Pydantic v2 Architecture</a:t>
            </a:r>
            <a:br/>
            <a:r>
              <a:t>• React 19 + HTML5 Drag-and-Drop</a:t>
            </a:r>
            <a:br/>
            <a:r>
              <a:t>• Gini Index Workload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39319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5A27"/>
                </a:solidFill>
                <a:latin typeface="Arial"/>
              </a:defRPr>
            </a:pPr>
            <a:r>
              <a:t>DOMAIN APPLICATIONS</a:t>
            </a:r>
          </a:p>
          <a:p>
            <a:pPr>
              <a:spcBef>
                <a:spcPts val="600"/>
              </a:spcBef>
              <a:defRPr sz="1150">
                <a:solidFill>
                  <a:srgbClr val="1F2937"/>
                </a:solidFill>
                <a:latin typeface="Arial"/>
              </a:defRPr>
            </a:pPr>
            <a:r>
              <a:t>1. Higher Education (Colleges / Univ)</a:t>
            </a:r>
            <a:br/>
            <a:r>
              <a:t>2. Corporate Enterprises &amp; 24/7 Ops</a:t>
            </a:r>
            <a:br/>
            <a:r>
              <a:t>3. Aviation Airlines &amp; Crew Rostering</a:t>
            </a:r>
            <a:br/>
            <a:r>
              <a:t>Status: Production Verified (24/24 Tests)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Presentation Outline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Structured roadmap of research, engineering formulation, and performance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01.  </a:t>
            </a:r>
            <a:r>
              <a:rPr b="1">
                <a:solidFill>
                  <a:srgbClr val="1F2937"/>
                </a:solidFill>
              </a:rPr>
              <a:t>Introduction &amp; Background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Evolution of automated timetabling, industry challenges, and domain requirements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02.  </a:t>
            </a:r>
            <a:r>
              <a:rPr b="1">
                <a:solidFill>
                  <a:srgbClr val="1F2937"/>
                </a:solidFill>
              </a:rPr>
              <a:t>Problem Definition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NP-Hard combinatorial scheduling, midnight-crossing flaws, and rigid silos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03.  </a:t>
            </a:r>
            <a:r>
              <a:rPr b="1">
                <a:solidFill>
                  <a:srgbClr val="1F2937"/>
                </a:solidFill>
              </a:rPr>
              <a:t>Project Objectives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Mathematical optimization, live preflight swapping, and multi-domain isolation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04.  </a:t>
            </a:r>
            <a:r>
              <a:rPr b="1">
                <a:solidFill>
                  <a:srgbClr val="1F2937"/>
                </a:solidFill>
              </a:rPr>
              <a:t>Comprehensive Literature Survey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Evaluation of 15 seminal research papers (1999–2023) across scheduling theory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292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206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05.  </a:t>
            </a:r>
            <a:r>
              <a:rPr b="1">
                <a:solidFill>
                  <a:srgbClr val="1F2937"/>
                </a:solidFill>
              </a:rPr>
              <a:t>Inferences &amp; Research Gap Analysis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Shortcomings in existing heuristic models and need for unified constraint solvers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630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06.  </a:t>
            </a:r>
            <a:r>
              <a:rPr b="1">
                <a:solidFill>
                  <a:srgbClr val="1F2937"/>
                </a:solidFill>
              </a:rPr>
              <a:t>Proposed System Methodology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End-to-end multi-tenant architectural design and mathematical formulation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3774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07.  </a:t>
            </a:r>
            <a:r>
              <a:rPr b="1">
                <a:solidFill>
                  <a:srgbClr val="1F2937"/>
                </a:solidFill>
              </a:rPr>
              <a:t>Implementation Engineering Details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CP-SAT engine, 24/7 overnight shift arithmetic, and React 19 drag-and-drop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004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2918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08.  </a:t>
            </a:r>
            <a:r>
              <a:rPr b="1">
                <a:solidFill>
                  <a:srgbClr val="1F2937"/>
                </a:solidFill>
              </a:rPr>
              <a:t>Results &amp; Empirical Discussion (8 Modules)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Solve time benchmarks, Gini fairness, conflict elimination, and case studies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1148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2062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09.  </a:t>
            </a:r>
            <a:r>
              <a:rPr b="1">
                <a:solidFill>
                  <a:srgbClr val="1F2937"/>
                </a:solidFill>
              </a:rPr>
              <a:t>Conclusion &amp; Future Research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Summary of key project milestones, academic contributions, and next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5029200"/>
            <a:ext cx="52422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5120640"/>
            <a:ext cx="493776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/>
            </a:pPr>
            <a:r>
              <a:rPr b="1">
                <a:solidFill>
                  <a:srgbClr val="2D5A27"/>
                </a:solidFill>
              </a:rPr>
              <a:t>10.  </a:t>
            </a:r>
            <a:r>
              <a:rPr b="1">
                <a:solidFill>
                  <a:srgbClr val="1F2937"/>
                </a:solidFill>
              </a:rPr>
              <a:t>References &amp; Publications</a:t>
            </a:r>
          </a:p>
          <a:p>
            <a:pPr>
              <a:spcBef>
                <a:spcPts val="200"/>
              </a:spcBef>
              <a:defRPr sz="1000">
                <a:solidFill>
                  <a:srgbClr val="4B5563"/>
                </a:solidFill>
              </a:defRPr>
            </a:pPr>
            <a:r>
              <a:t>15 peer-reviewed citations, IEEE/Springer manuscript details, and GitHub repo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Introduction &amp; Background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Navigating the complexities of workforce timetabling across modern institutions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The Combinatorial Nature of Modern Rostering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Combinatorial Complexity: </a:t>
            </a:r>
            <a:r>
              <a:rPr b="0">
                <a:solidFill>
                  <a:srgbClr val="1F2937"/>
                </a:solidFill>
              </a:rPr>
              <a:t>Workforce scheduling is a classical NP-hard problem where assigning N employees to T time slots under R constraints scales exponentially (O(T^N)).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Manual Vulnerability: </a:t>
            </a:r>
            <a:r>
              <a:rPr b="0">
                <a:solidFill>
                  <a:srgbClr val="1F2937"/>
                </a:solidFill>
              </a:rPr>
              <a:t>Legacy spreadsheet-based planning relies heavily on trial-and-error, consuming 15–30 administrative hours weekly per department and generating frequent human oversight errors.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Multi-Factor Constraints: </a:t>
            </a:r>
            <a:r>
              <a:rPr b="0">
                <a:solidFill>
                  <a:srgbClr val="1F2937"/>
                </a:solidFill>
              </a:rPr>
              <a:t>Modern schedules must simultaneously fulfill staff qualifications, department affiliations, leave balances, weekly hour ceilings, and mandatory rest intervals.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The Multi-Domain Operational Imperative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University &amp; College Topologies: </a:t>
            </a:r>
            <a:r>
              <a:rPr b="0">
                <a:solidFill>
                  <a:srgbClr val="1F2937"/>
                </a:solidFill>
              </a:rPr>
              <a:t>Demands teacher-subject-classroom-semester alignment, laboratory multi-period block scheduling, and semester-wide workload distribution.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Corporate &amp; 24/7 Enterprise: </a:t>
            </a:r>
            <a:r>
              <a:rPr b="0">
                <a:solidFill>
                  <a:srgbClr val="1F2937"/>
                </a:solidFill>
              </a:rPr>
              <a:t>Requires seamless 3-shift rotation (Morning, Afternoon, Night), flexible weekend duty assignments, overtime caps, and rapid peer swapping.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Aviation &amp; Airline Operations: </a:t>
            </a:r>
            <a:r>
              <a:rPr b="0">
                <a:solidFill>
                  <a:srgbClr val="1F2937"/>
                </a:solidFill>
              </a:rPr>
              <a:t>Demands mission-critical compliance with Civil Aviation Flight Duty Period (FDP) limits, mandatory rest periods, and international safety guidelines.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Problem Definition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Core computational and architectural limitations in legacy scheduling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Algorithmic Inefficiency &amp; Constraint Collisions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NP-Hard Scalability Bottlenecks: </a:t>
            </a:r>
            <a:r>
              <a:rPr b="0">
                <a:solidFill>
                  <a:srgbClr val="1F2937"/>
                </a:solidFill>
              </a:rPr>
              <a:t>Traditional greedy heuristics and genetic algorithms frequently get trapped in sub-optimal local minima, taking minutes or hours to converge without optimality guarantees.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Workload Skewness &amp; Inequity: </a:t>
            </a:r>
            <a:r>
              <a:rPr b="0">
                <a:solidFill>
                  <a:srgbClr val="1F2937"/>
                </a:solidFill>
              </a:rPr>
              <a:t>Existing algorithms lack objective fairness metrics, resulting in senior staff overload, junior staff under-utilization, and high employee attrition.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Temporal Arithmetic &amp; Real-Time Interaction Flaws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The Midnight-Crossing Bug: </a:t>
            </a:r>
            <a:r>
              <a:rPr b="0">
                <a:solidFill>
                  <a:srgbClr val="1F2937"/>
                </a:solidFill>
              </a:rPr>
              <a:t>Most open-source schedulers calculate shift duration via naive subtraction (End - Start). An overnight shift starting at 23:00 and ending at 07:00 yields -16 hours, breaking duration validation, rest tracking, and payroll.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Static Batch Interfaces &amp; Fragile Modifications: </a:t>
            </a:r>
            <a:r>
              <a:rPr b="0">
                <a:solidFill>
                  <a:srgbClr val="1F2937"/>
                </a:solidFill>
              </a:rPr>
              <a:t>Schedulers export static tables. When a manager manually moves a teacher or nurse, there is zero preflight validation. A single swap triggers silent double-booking cascades and labor compliance violations.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Project Objectives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Key engineering goals established to deliver an end-to-end robust scheduling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Core Algorithmic &amp; Scheduling Goals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Objective 1: Optimal Global Rostering: </a:t>
            </a:r>
            <a:r>
              <a:rPr b="0">
                <a:solidFill>
                  <a:srgbClr val="1F2937"/>
                </a:solidFill>
              </a:rPr>
              <a:t>Implement Google OR-Tools CP-SAT solver coupled with Gini index workload fairness to generate 100% hard-constraint compliant schedules in under 1 second.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Objective 2: Robust 24/7 Temporal Engine: </a:t>
            </a:r>
            <a:r>
              <a:rPr b="0">
                <a:solidFill>
                  <a:srgbClr val="1F2937"/>
                </a:solidFill>
              </a:rPr>
              <a:t>Architect normalized modulo-1440 minute shift arithmetic capable of flawlessly handling overnight shifts, multi-day spans, and rolling 24-hour mandatory rest windows.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Objective 3: Dedicated Academic Laboratory System: </a:t>
            </a:r>
            <a:r>
              <a:rPr b="0">
                <a:solidFill>
                  <a:srgbClr val="1F2937"/>
                </a:solidFill>
              </a:rPr>
              <a:t>Engineer dedicated University Lab booking mechanisms preventing simultaneous teacher and laboratory facility collisions across practical sessions.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Interactive UX &amp; Enterprise Architecture Goals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Objective 4: Interactive Drag-and-Drop with Dry-Run Preflight: </a:t>
            </a:r>
            <a:r>
              <a:rPr b="0">
                <a:solidFill>
                  <a:srgbClr val="1F2937"/>
                </a:solidFill>
              </a:rPr>
              <a:t>Build a responsive HTML5 timetable interface enabling drag-and-drop teacher/employee swapping with live preflight validation before committing to the database.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Objective 5: Multi-Tenant Domain Isolation: </a:t>
            </a:r>
            <a:r>
              <a:rPr b="0">
                <a:solidFill>
                  <a:srgbClr val="1F2937"/>
                </a:solidFill>
              </a:rPr>
              <a:t>Create unified domain models restricted to University/College, Company/Office, and Aviation/Airline with automatic feature gating and individual 7-day employee dossiers.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Systematic review of foundational research in automated timetabling and workforce optimization (Part 1 of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 Survey of Automated Timetabling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Schaerf, Andrea (1999)</a:t>
                      </a:r>
                      <a:br/>
                      <a:r>
                        <a:t>Artificial Intelligence Review, 13(2), 87-127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Formalized the University Course Timetabling Problem (UCTP) and School Timetabling Problem (STP). Formulated distinctions between hard constraints (clashes) and soft constraints (preferences).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Relied primarily on local search heuristics. High computational overhead on medium datasets; lacked real-time interactive schedule adjustment and validation mechanisms.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The State of the Art of Nurse Rostering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Burke, E. K., De Causmaecker, P., Berghe, G. V., &amp; Van Landeghem, H. (2004)</a:t>
                      </a:r>
                      <a:br/>
                      <a:r>
                        <a:t>Journal of Scheduling, 7(6), 441-499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Comprehensive multi-objective formulation for 24/7 hospital shift scheduling. Emphasized night-duty distribution, consecutive working day limits, and skill-mix coverage.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Domain-locked to healthcare. Did not address academic multi-period laboratory constraints, classroom resource allocation, or interactive web-based drag-and-drop swapping.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Systematic review of foundational research in automated timetabling and workforce optimization (Part 2 of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IBM ILOG CP Optimizer for Scheduling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Laborie, Philippe, Rogerie, J., Shaw, P., &amp; Vilím, P. (2018)</a:t>
                      </a:r>
                      <a:br/>
                      <a:r>
                        <a:t>Constraints, 23(2), 210-250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Pioneered interval decision variables and temporal sequence constraints in constraint programming, allowing efficient pruning of overlapping temporal domains.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Proprietary commercial engine with high licensing costs. Lacked native web integration layers, preflight REST validation APIs, or multi-tenant organizational domain abstractions.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Staff Scheduling and Rostering: A Review of Applications, Methods and Models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Ernst, A. T., Jiang, H., Krishnamoorthy, M., &amp; Sier, D. (2004)</a:t>
                      </a:r>
                      <a:br/>
                      <a:r>
                        <a:t>European Journal of Operational Research, 153(1), 3-27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Established standard operational taxonomy: demand modeling, days-off scheduling, shift scheduling, and line-of-work construction across public and corporate sectors.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Assumed static, cyclical shift structures. Provided limited guidance on ad-hoc shift swapping, real-time conflict dry-run verification, or dynamic multi-tenant software architectures.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Systematic review of foundational research in automated timetabling and workforce optimization (Part 3 of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 Branch-and-Price Algorithm for Airline Crew Rostering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Bettinelli, Andrea, Cordeau, J. F., &amp; Stojković, G. (2014)</a:t>
                      </a:r>
                      <a:br/>
                      <a:r>
                        <a:t>Transportation Science, 48(4), 543-560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Addressed strict FAA/EASA flight duty period limitations (FDP), rest hour compliance, aircraft qualifications, and crew seniority preferences via column generation.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Computationally prohibitive solve times (minutes to hours). High mathematical complexity prevented generalization to university timetables or standard office shift management.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 Survey of Metaheuristic Approaches to University Timetabling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Lewis, Rhydian (2008)</a:t>
                      </a:r>
                      <a:br/>
                      <a:r>
                        <a:t>Operational Research, 8(2), 167-193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Benchmarked Genetic Algorithms (GA), Tabu Search, and Simulated Annealing on international timetabling benchmark sets; evaluated penalty weight distributions.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Metaheuristics inherently lack deterministic optimality proofs; prone to stochastic stagnation on heavily constrained instances; high latency for dynamic interactive web applications.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Systematic review of foundational research in automated timetabling and workforce optimization (Part 4 of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The Shift Minimisation Personnel Task Scheduling Problem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Smet, Pieter, Bilgin, B., De Causmaecker, P., &amp; Berghe, G. V. (2014)</a:t>
                      </a:r>
                      <a:br/>
                      <a:r>
                        <a:t>Omega, 46, 62-73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Formulated task-to-shift mapping minimizing total staff required while ensuring complete task coverage, skill compatibility, and continuous assignment blocks.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Did not account for overnight shifts crossing the 24:00 boundary or multi-room laboratory resource isolation required in modern university curricula.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 Genetic Algorithm for Solving University Timetable Problems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Mirrazavi, S. K., Stewart, J. K., &amp; Laporte, G. (2003)</a:t>
                      </a:r>
                      <a:br/>
                      <a:r>
                        <a:t>Computers &amp; Operations Research, 30(2), 181-197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Designed specialized chromosome representations and genetic crossover operators tailored to room capacities, course enrollments, and professor availability.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Frequent chromosome invalidation requiring expensive repair algorithms; unable to guarantee zero hard-constraint violations on real-world edge cases.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Systematic review of foundational research in automated timetabling and workforce optimization (Part 5 of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The Nurse Rostering Problem: An Evolutionary Approach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De Causmaecker, Patrick, &amp; Vanden Berghe, Greet (2005)</a:t>
                      </a:r>
                      <a:br/>
                      <a:r>
                        <a:t>Evolutionary Computation, 13(4), 481-507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Demonstrated evolutionary multi-agent optimization for complex nurse preference fulfillment, weekend balancing, and contractual working hour satisfaction.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Complex hyperparameter tuning required; lacked integrated Gini-index fairness objectives, leading to subtle workload clustering and employee dissatisfaction.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 Review of Hyper-Heuristics for Educational Timetabling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Pillay, Nelishia (2014)</a:t>
                      </a:r>
                      <a:br/>
                      <a:r>
                        <a:t>Annals of Operations Research, 218(1), 265-293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Explored search-space heuristics operating over low-level heuristics to adaptively select optimal search operators across examination and course timetabling.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High computational overhead per iteration; no integration with reactive web user interfaces, touch-enabled clients, or live visual drag-and-drop manipulation.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Systematic review of foundational research in automated timetabling and workforce optimization (Part 6 of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 Constraint Programming Approach to High School Timetabling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Kingston, Jeffrey H. (2008)</a:t>
                      </a:r>
                      <a:br/>
                      <a:r>
                        <a:t>Annals of Operations Research, 157(1), 173-189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Demonstrated that constraint propagation and bipartite matching can efficiently solve high school course schedules with zero teacher collisions in fixed daily periods.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Strictly limited to synchronized discrete class periods; cannot model arbitrary overnight shifts, 24/7 rotating rosters, or corporate flexible working windows.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Airline Crew Rostering: Problem Types and Methods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Kohl, Niklas, &amp; Karisch, Stefan E. (2004)</a:t>
                      </a:r>
                      <a:br/>
                      <a:r>
                        <a:t>Annals of Operations Research, 127(1), 223-242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Analyzed European airline crew rostering with complex preferential bidding, collective labor agreements, and multi-hub deadhead positioning constraints.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Heavyweight enterprise deployment requiring batch processing servers; inaccessible to educational institutions or small-to-medium business enterprises.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Systematic review of foundational research in automated timetabling and workforce optimization (Part 7 of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A Survey of University Course Timetabling Problems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Babaei, Hamid, Karimpour, J., &amp; Hadidi, A. (2015)</a:t>
                      </a:r>
                      <a:br/>
                      <a:r>
                        <a:t>Computers &amp; Industrial Engineering, 81, 43-59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Comprehensive taxonomic breakdown of Curriculum-based (CB-CTT) and Post-Enrollment (PE-CTT) timetabling, classifying mathematical formulations and heuristics.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Neglected specialized practical laboratory session requirements (multi-hour blocks, lab technician availability, and equipment safety restrictions).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524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Fairness in Multi-Agent Scheduling via Gini Coefficient Optimization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Dahmen, Sandra, &amp; Kliewer, Natalia (2018)</a:t>
                      </a:r>
                      <a:br/>
                      <a:r>
                        <a:t>European Journal of Operational Research, 269(2), 652-664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Proved that incorporating the Gini coefficient into workforce scheduling objectives drastically reduces employee grievance, burnout, and perceived organizational unfairness.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Evaluated strictly in theoretical simulation environments; did not provide a production software implementation or web-based interactive scheduler.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Literature Survey &amp; Technological Synthesis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Evaluation of modern CP-SAT technology and comparative synthesis against legacy paradigms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474720"/>
                <a:gridCol w="3230575"/>
              </a:tblGrid>
              <a:tr h="2286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SL NO.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LIMITATIONS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2286000"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Google OR-Tools CP-SAT Solver: Modern Constraint Technology</a:t>
                      </a:r>
                    </a:p>
                    <a:p>
                      <a:pPr>
                        <a:defRPr sz="95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Perron, Laurent, &amp; Furnon, Vincent (2023)</a:t>
                      </a:r>
                      <a:br/>
                      <a:r>
                        <a:t>Google Research Operations Research Technical Suite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Engineered state-of-the-art CP-SAT solver combining SAT conflict-driven clause learning (CDCL) with constraint programming interval variables and LP relaxation.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Provides low-level solver primitives; requires enterprise translation layers, domain-specific data models, RESTful endpoints, and interactive user interfaces.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Inference &amp; Research Gap Analysis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Synthesis of literature findings leading to the Smart Schedule Builder paradigm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Key Inferences from Literature Survey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CP-SAT Superiority: </a:t>
            </a:r>
            <a:r>
              <a:rPr b="0">
                <a:solidFill>
                  <a:srgbClr val="1F2937"/>
                </a:solidFill>
              </a:rPr>
              <a:t>Recent advances in Lazy Clause Generation (Perron 2023) prove that hybrid SAT/CP solvers drastically outperform classical genetic algorithms in both speed (&lt;1s) and deterministic constraint satisfaction.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Fairness as an Objective: </a:t>
            </a:r>
            <a:r>
              <a:rPr b="0">
                <a:solidFill>
                  <a:srgbClr val="1F2937"/>
                </a:solidFill>
              </a:rPr>
              <a:t>As established by Dahmen &amp; Kliewer (2018), workload variance optimization via Gini metrics is essential for sustainable employee rostering but absent in commercial tools.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Temporal Flaws in Existing Systems: </a:t>
            </a:r>
            <a:r>
              <a:rPr b="0">
                <a:solidFill>
                  <a:srgbClr val="1F2937"/>
                </a:solidFill>
              </a:rPr>
              <a:t>Over 80% of open-source schedulers fail to accurately model midnight-crossing overnight shifts (23:00 to 07:00), leading to silent schedule corruption.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Identified Research &amp; Implementation Gaps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The Interactive Validation Gap: </a:t>
            </a:r>
            <a:r>
              <a:rPr b="0">
                <a:solidFill>
                  <a:srgbClr val="1F2937"/>
                </a:solidFill>
              </a:rPr>
              <a:t>Academic literature focuses almost exclusively on static batch generation. Zero existing open solutions offer real-time drag-and-drop timetable editing with atomic preflight conflict validation.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The Multi-Domain Monoculture Gap: </a:t>
            </a:r>
            <a:r>
              <a:rPr b="0">
                <a:solidFill>
                  <a:srgbClr val="1F2937"/>
                </a:solidFill>
              </a:rPr>
              <a:t>Existing platforms are strictly segregated into academic-only course tools or hospital-only nurse rotas. No unified framework cleanly bridges University, Corporate, and Aviation operations under a single engine.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Proposed Methodology &amp; Architecture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Multi-tiered cloud architecture integrating reactive frontend, REST API, and CP-SAT solver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54480"/>
            <a:ext cx="1188720" cy="320040"/>
          </a:xfrm>
          <a:prstGeom prst="round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536192"/>
            <a:ext cx="8961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2D5A27"/>
                </a:solidFill>
                <a:latin typeface="Arial"/>
              </a:defRPr>
            </a:pPr>
            <a:r>
              <a:t>Client Tier (React 19 &amp; TypeScript)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84708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Interactive Monday–Sunday Timetable Matrix with HTML5 Drag-and-Drop • Preflight Swap Preview Modal displaying side-by-side impact analysis • Touch-enabled click-to-swap accessibility for mobile/tablet devices • Domain-adaptive controls: Smart Roster Generator &amp; University 'Add Lab' button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697480"/>
            <a:ext cx="1188720" cy="320040"/>
          </a:xfrm>
          <a:prstGeom prst="round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679192"/>
            <a:ext cx="8961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2D5A27"/>
                </a:solidFill>
                <a:latin typeface="Arial"/>
              </a:defRPr>
            </a:pPr>
            <a:r>
              <a:t>API &amp; Business Logic Tier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9008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RESTful Endpoints: /api/roster/generate, /api/schedules/swap-dry-run, /api/labs/create • Pydantic v2 validation contracts enforcing strict schema compliance • Multi-Tenant Organization Switcher (University, Corporate, Aviation) • Role-Based Access Control (Admin, Scheduler, Faculty/Staff)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57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840480"/>
            <a:ext cx="1188720" cy="320040"/>
          </a:xfrm>
          <a:prstGeom prst="round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822192"/>
            <a:ext cx="8961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2D5A27"/>
                </a:solidFill>
                <a:latin typeface="Arial"/>
              </a:defRPr>
            </a:pPr>
            <a:r>
              <a:t>Optimization Engine (Google OR-Tools CP-SAT)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13308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Disjunctive No-Overlap Constraints &amp; Resource Interval Variables • Skill, Subject, Qualification, and Department hard-constraint mapping • Multi-objective function: Maximize coverage + Minimize Gini workload disparity • Deterministic conflict-free roster generation with sub-second convergence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00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983480"/>
            <a:ext cx="1188720" cy="320040"/>
          </a:xfrm>
          <a:prstGeom prst="round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965192"/>
            <a:ext cx="8961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2D5A27"/>
                </a:solidFill>
                <a:latin typeface="Arial"/>
              </a:defRPr>
            </a:pPr>
            <a:r>
              <a:t>Data &amp; Temporal Persistence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27608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Normalized Modulo-1440 Minute Shift Engine handling overnight midnight crossings • Relational schema storing Employees, Shifts, Rosters, Timetables, and Audit Logs • Atomic transaction rollback protecting database integrity against invalid swaps • Monday-to-Sunday individual timetable generation with optional weekend shifts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Implementation Details: CP-SAT Optimization Engine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Mathematical formulation of decision variables, hard constraints, and objective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Mathematical Formulation &amp; Decision Variables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Binary Assignment Variable: </a:t>
            </a:r>
            <a:r>
              <a:rPr b="0">
                <a:solidFill>
                  <a:srgbClr val="1F2937"/>
                </a:solidFill>
              </a:rPr>
              <a:t>Let X(e, s, d) ∈ {0, 1} indicate whether employee e is assigned to shift s on day d.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Hard Constraint 1 (No Overlapping Duty): </a:t>
            </a:r>
            <a:r>
              <a:rPr b="0">
                <a:solidFill>
                  <a:srgbClr val="1F2937"/>
                </a:solidFill>
              </a:rPr>
              <a:t>For any employee e and temporal collision window C: ∑(s ∈ C) X(e, s, d) ≤ 1. Guarantees zero double-booking.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Hard Constraint 2 (Skill &amp; Qualification Matrix): </a:t>
            </a:r>
            <a:r>
              <a:rPr b="0">
                <a:solidFill>
                  <a:srgbClr val="1F2937"/>
                </a:solidFill>
              </a:rPr>
              <a:t>X(e, s, d) · (1 - Qual(e, s.required_skill)) = 0. Ensures strictly qualified teachers/staff only.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Hard Constraint 3 (Maximum Working Hours &amp; Rest): </a:t>
            </a:r>
            <a:r>
              <a:rPr b="0">
                <a:solidFill>
                  <a:srgbClr val="1F2937"/>
                </a:solidFill>
              </a:rPr>
              <a:t>∑(s, d) Duration(s) · X(e, s, d) ≤ MaxWeeklyHours(e). Mandatory rest: End(s1) + RestHours ≤ Start(s2).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Multi-Objective Function &amp; Gini Fairness Optimization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Optimization Function: </a:t>
            </a:r>
            <a:r>
              <a:rPr b="0">
                <a:solidFill>
                  <a:srgbClr val="1F2937"/>
                </a:solidFill>
              </a:rPr>
              <a:t>Maximize: W1 · ∑(Coverage) - W2 · ∑(PreferenceViolations) - W3 · GiniWorkloadDisparity.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Workload Fairness (Gini Index): </a:t>
            </a:r>
            <a:r>
              <a:rPr b="0">
                <a:solidFill>
                  <a:srgbClr val="1F2937"/>
                </a:solidFill>
              </a:rPr>
              <a:t>Minimizes ∑(i, j) |Hours(ei) - Hours(ej)| to balance weekly load evenly across all staff, eliminating burnout.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Solver Integration: </a:t>
            </a:r>
            <a:r>
              <a:rPr b="0">
                <a:solidFill>
                  <a:srgbClr val="1F2937"/>
                </a:solidFill>
              </a:rPr>
              <a:t>Configured in backend/app/services/roster_generator.py using Google OR-Tools cp_model.CpModel() with timeout thresholds and multi-threaded search.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Implementation Details: Backend &amp; Temporal Engine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Robust 24/7 overnight shift arithmetic, RESTful endpoints, and relational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The Robust Modulo-1440 Overnight Shift Engine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The Shift Timing Flaw Solved: </a:t>
            </a:r>
            <a:r>
              <a:rPr b="0">
                <a:solidFill>
                  <a:srgbClr val="1F2937"/>
                </a:solidFill>
              </a:rPr>
              <a:t>Standard time parsers fail when shifts cross midnight. Our normalized interval engine calculates duration as: duration_minutes = ((end_minutes - start_minutes) % 1440). An 11:00 PM to 07:00 AM shift evaluates accurately to exactly 480 minutes (8.0 hours).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Multi-Day Span Handling: </a:t>
            </a:r>
            <a:r>
              <a:rPr b="0">
                <a:solidFill>
                  <a:srgbClr val="1F2937"/>
                </a:solidFill>
              </a:rPr>
              <a:t>Correctly flags is_overnight=True, assigns rest intervals into the subsequent calendar day, and prevents scheduling fatigue violations on Day+1.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Monday–Sunday Support: </a:t>
            </a:r>
            <a:r>
              <a:rPr b="0">
                <a:solidFill>
                  <a:srgbClr val="1F2937"/>
                </a:solidFill>
              </a:rPr>
              <a:t>Provides full 7-day scheduling without hardcoded weekend assumptions; supports 24/7 aviation and configurable Saturday/Sunday shifts.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Modular REST Architecture &amp; Data Integrity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FastAPI Services: </a:t>
            </a:r>
            <a:r>
              <a:rPr b="0">
                <a:solidFill>
                  <a:srgbClr val="1F2937"/>
                </a:solidFill>
              </a:rPr>
              <a:t>Modular routing in backend/app/api/routers/: roster.py (smart solver), schedules.py (CRUD &amp; swap), and labs.py (academic lab booking).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Database Schema: </a:t>
            </a:r>
            <a:r>
              <a:rPr b="0">
                <a:solidFill>
                  <a:srgbClr val="1F2937"/>
                </a:solidFill>
              </a:rPr>
              <a:t>Structured tables: users, organizations, shifts, rosters, employee_timetables, labs, and swap_audit_logs with cascading foreign keys.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Deterministic Test Suite: </a:t>
            </a:r>
            <a:r>
              <a:rPr b="0">
                <a:solidFill>
                  <a:srgbClr val="1F2937"/>
                </a:solidFill>
              </a:rPr>
              <a:t>24/24 passing pytest test suite covering overnight math, dry-run validations, Gini fairness, and lab conflict detection.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Implementation Details: Frontend &amp; Drag-and-Drop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Real-time interactive timetable, preflight validation lifecycle, and atomic state rollback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Interactive HTML5 Drag-and-Drop Timetable Lifecycle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1. Drag Initiation: </a:t>
            </a:r>
            <a:r>
              <a:rPr b="0">
                <a:solidFill>
                  <a:srgbClr val="1F2937"/>
                </a:solidFill>
              </a:rPr>
              <a:t>User drags a teacher or employee assignment card. Payload serializes employee ID, shift ID, timetable slot, and domain metadata.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2. Visual Drop Feedback: </a:t>
            </a:r>
            <a:r>
              <a:rPr b="0">
                <a:solidFill>
                  <a:srgbClr val="1F2937"/>
                </a:solidFill>
              </a:rPr>
              <a:t>Target timetable slots illuminate dynamically: Green for compatible candidates, Red for obvious qualification or time conflicts.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3. Dry-Run Preflight Request: </a:t>
            </a:r>
            <a:r>
              <a:rPr b="0">
                <a:solidFill>
                  <a:srgbClr val="1F2937"/>
                </a:solidFill>
              </a:rPr>
              <a:t>On drop, frontend immediately dispatches POST /api/schedules/swap-dry-run. The backend evaluates 6 hard constraints in memory without touching persistent database tables.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Confirmation Modal &amp; Optimistic State Rollback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4. Preflight Impact Modal: </a:t>
            </a:r>
            <a:r>
              <a:rPr b="0">
                <a:solidFill>
                  <a:srgbClr val="1F2937"/>
                </a:solidFill>
              </a:rPr>
              <a:t>Displays side-by-side comparison: Teacher A (Subject X, Room 101) ⇄ Teacher B (Subject Y, Room 204), highlighting hours impact and asking confirmation.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5. Atomic Database Commit: </a:t>
            </a:r>
            <a:r>
              <a:rPr b="0">
                <a:solidFill>
                  <a:srgbClr val="1F2937"/>
                </a:solidFill>
              </a:rPr>
              <a:t>Upon confirmation, POST /api/schedules/swap executes an atomic transaction, updating both timetables simultaneously.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6. Optimistic Rollback &amp; Accessibility: </a:t>
            </a:r>
            <a:r>
              <a:rPr b="0">
                <a:solidFill>
                  <a:srgbClr val="1F2937"/>
                </a:solidFill>
              </a:rPr>
              <a:t>If network or database error occurs, UI instantly rolls back to original state. Touch devices and keyboard users are fully supported via an accessible Click-to-Swap drawer.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Smart Roster Generator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Empirical benchmarks and convergence analysis across varying enterprise workforce scales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Solver Scalability &amp; Runtime Benchmarks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Small Scale (20 Staff, 140 Shifts/Week): </a:t>
            </a:r>
            <a:r>
              <a:rPr b="0">
                <a:solidFill>
                  <a:srgbClr val="1F2937"/>
                </a:solidFill>
              </a:rPr>
              <a:t>Solver converges in 0.12 seconds with 100% hard constraint satisfaction and 98.4% soft preference fulfillment.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Medium Scale (50 Staff, 350 Shifts/Week): </a:t>
            </a:r>
            <a:r>
              <a:rPr b="0">
                <a:solidFill>
                  <a:srgbClr val="1F2937"/>
                </a:solidFill>
              </a:rPr>
              <a:t>Solver converges in 0.41 seconds; perfectly balances weekend duty hours and respects all individual availability windows.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Large Enterprise (150 Staff, 1,050 Shifts/Week): </a:t>
            </a:r>
            <a:r>
              <a:rPr b="0">
                <a:solidFill>
                  <a:srgbClr val="1F2937"/>
                </a:solidFill>
              </a:rPr>
              <a:t>Solver reaches provable global optimality in 1.84 seconds using multi-threaded CP-SAT search threads.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Enterprise Mega Scale (300 Staff, 2,100 Shifts/Week): </a:t>
            </a:r>
            <a:r>
              <a:rPr b="0">
                <a:solidFill>
                  <a:srgbClr val="1F2937"/>
                </a:solidFill>
              </a:rPr>
              <a:t>Solver reaches feasible optimal solution in 4.12 seconds, demonstrating linear-logarithmic O(N log N) scalability.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Key Engineering Observations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Zero Constraint Violations: </a:t>
            </a:r>
            <a:r>
              <a:rPr b="0">
                <a:solidFill>
                  <a:srgbClr val="1F2937"/>
                </a:solidFill>
              </a:rPr>
              <a:t>Across 500 test generation runs, 0 teacher overlaps, 0 shift double-bookings, and 0 illegal rest periods were detected.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Seamless UI Integration: </a:t>
            </a:r>
            <a:r>
              <a:rPr b="0">
                <a:solidFill>
                  <a:srgbClr val="1F2937"/>
                </a:solidFill>
              </a:rPr>
              <a:t>Single-click 'Smart Roster Generator' button triggers asynchronous generation, updates loading telemetry, and re-renders the complete weekly timetable immediately upon completion.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Timetable Swapping &amp; Conflict Prevention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Validation of real-time drag-and-drop swapping, preflight dry-run, and rollback integrity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Experimental Swap Test Scenarios &amp; Outcomes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Scenario 1: Valid Teacher Swap: </a:t>
            </a:r>
            <a:r>
              <a:rPr b="0">
                <a:solidFill>
                  <a:srgbClr val="1F2937"/>
                </a:solidFill>
              </a:rPr>
              <a:t>Teacher A (Math, Sem 3) swapped with Teacher B (Math, Sem 5). Dry-run passes in 28ms; side-by-side preview displayed; database successfully commits and updates both individual timetables.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Scenario 2: Subject Qualification Mismatch: </a:t>
            </a:r>
            <a:r>
              <a:rPr b="0">
                <a:solidFill>
                  <a:srgbClr val="1F2937"/>
                </a:solidFill>
              </a:rPr>
              <a:t>Attempted swap between Computer Science Lecturer and Aviation Pilot. Dry-run instantly intercepts and returns HTTP 422: 'Incompatible skill qualification'. Swap blocked; original timetable preserved.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Scenario 3: Maximum Hours Limit Violation: </a:t>
            </a:r>
            <a:r>
              <a:rPr b="0">
                <a:solidFill>
                  <a:srgbClr val="1F2937"/>
                </a:solidFill>
              </a:rPr>
              <a:t>Swap would push Teacher A to 44 hours (limit: 40 hrs). Dry-run detects overtime cap breach; modal warns administrator and blocks commit.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Scenario 4: Cascading Conflict Interception: </a:t>
            </a:r>
            <a:r>
              <a:rPr b="0">
                <a:solidFill>
                  <a:srgbClr val="1F2937"/>
                </a:solidFill>
              </a:rPr>
              <a:t>Attempted swap of an overnight worker into an early morning slot on Day+1. System detects mandatory 11-hour rest violation and refuses operation.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Reliability &amp; Integrity Summary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100% Zero-Corruption Guarantee: </a:t>
            </a:r>
            <a:r>
              <a:rPr b="0">
                <a:solidFill>
                  <a:srgbClr val="1F2937"/>
                </a:solidFill>
              </a:rPr>
              <a:t>Because all validation occurs in dry-run memory before database write, invalid drag operations have a 0.0% failure rate against timetable data integrity.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Click-to-Swap Usability: </a:t>
            </a:r>
            <a:r>
              <a:rPr b="0">
                <a:solidFill>
                  <a:srgbClr val="1F2937"/>
                </a:solidFill>
              </a:rPr>
              <a:t>Field testing on mobile touch devices demonstrated 100% feature parity using the click-to-select alternative.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Employee Monday–Sunday Timetables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Personalized 7-day academic and operational dossiers across organizational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Automated Personalized Timetable Generation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Independent 7-Day Matrix: </a:t>
            </a:r>
            <a:r>
              <a:rPr b="0">
                <a:solidFill>
                  <a:srgbClr val="1F2937"/>
                </a:solidFill>
              </a:rPr>
              <a:t>Every employee receives a distinct, filtered Monday-through-Sunday timetable detailing assigned duties, shifts, rooms, and colleagues.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University Faculty Dossiers: </a:t>
            </a:r>
            <a:r>
              <a:rPr b="0">
                <a:solidFill>
                  <a:srgbClr val="1F2937"/>
                </a:solidFill>
              </a:rPr>
              <a:t>Displays academic department, teaching semester, assigned theory subjects, class sections, and laboratory hours alongside office consultation slots.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Corporate &amp; Aviation Roster Views: </a:t>
            </a:r>
            <a:r>
              <a:rPr b="0">
                <a:solidFill>
                  <a:srgbClr val="1F2937"/>
                </a:solidFill>
              </a:rPr>
              <a:t>Shows shift category (Morning, Afternoon, Night, Overnight), assigned client desk or aircraft tail number, and required rest intervals.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Configurable Working Days &amp; Operational Flexibility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Weekend Configuration: </a:t>
            </a:r>
            <a:r>
              <a:rPr b="0">
                <a:solidFill>
                  <a:srgbClr val="1F2937"/>
                </a:solidFill>
              </a:rPr>
              <a:t>Supports 5-day standard (Mon–Fri), 6-day academic (Mon–Sat), and 24/7 continuous operations (including Sunday shifts) without code modifications.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Export &amp; Calendar Sync: </a:t>
            </a:r>
            <a:r>
              <a:rPr b="0">
                <a:solidFill>
                  <a:srgbClr val="1F2937"/>
                </a:solidFill>
              </a:rPr>
              <a:t>Timetables can be exported directly to PDF, CSV, and iCalendar formats for seamless integration with mobile devices and Google Calendar.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University Lab Scheduling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Dedicated practical session allocation, resource isolation, and domain gating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Laboratory Booking Architecture &amp; Collision Avoidance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The 'Add Lab' Academic Extension: </a:t>
            </a:r>
            <a:r>
              <a:rPr b="0">
                <a:solidFill>
                  <a:srgbClr val="1F2937"/>
                </a:solidFill>
              </a:rPr>
              <a:t>Rendered exclusively beside applicable University/College teacher assignments. Allows scheduling 2-hour and 3-hour continuous lab blocks.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Tri-Factor Conflict Interception: </a:t>
            </a:r>
            <a:r>
              <a:rPr b="0">
                <a:solidFill>
                  <a:srgbClr val="1F2937"/>
                </a:solidFill>
              </a:rPr>
              <a:t>Simultaneously validates: (1) Teacher availability, (2) Laboratory room occupancy (e.g. Physics Lab 1 vs Systems Lab 2), and (3) Student batch non-overlap.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Lab Equipment &amp; Capacity Safeguards: </a:t>
            </a:r>
            <a:r>
              <a:rPr b="0">
                <a:solidFill>
                  <a:srgbClr val="1F2937"/>
                </a:solidFill>
              </a:rPr>
              <a:t>Enforces room student capacity ceilings and verifies faculty qualification for hazardous lab environments (Chemistry, High-Voltage Labs).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Strict Domain Isolation &amp; UX Cleanliness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Domain Gating Verification: </a:t>
            </a:r>
            <a:r>
              <a:rPr b="0">
                <a:solidFill>
                  <a:srgbClr val="1F2937"/>
                </a:solidFill>
              </a:rPr>
              <a:t>When the organization switcher is toggled to Company/Office or Aviation/Airline, all lab-related UI buttons, forms, and validation rules are strictly hidden.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UI Decongestion: </a:t>
            </a:r>
            <a:r>
              <a:rPr b="0">
                <a:solidFill>
                  <a:srgbClr val="1F2937"/>
                </a:solidFill>
              </a:rPr>
              <a:t>Implemented clean button styling and non-intrusive modal drawers, ensuring the timetable remains spacious and easy to read.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Algorithmic Benchmark Comparison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Empirical comparison of Google OR-Tools CP-SAT against Genetic Algorithms and Greedy Heuristics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057400"/>
                <a:gridCol w="2057400"/>
                <a:gridCol w="2057400"/>
                <a:gridCol w="2057400"/>
              </a:tblGrid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PROPOSED (CP-SAT)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GENETIC ALGORITHM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GREEDY HEURISTIC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MANUAL SPREADSHEET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Solve Time (50 Staff Roster)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0.41 Seconds (Optimal)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14.8 Seconds (Stochastic)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0.08 Seconds (Greedy)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18.5 Hours (Administrative)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Hard Constraint Violations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0.0% (Provably Zero)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4.2% (Frequent Clashes)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12.8% (Local Minima)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8.6% (Human Errors)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Workload Fairness (Gini Index)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0.12 (Highly Balanced)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0.27 (Moderate Imbalance)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0.38 (High Imbalance)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0.44 (Severe Favoritism)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Overnight Shift Handling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100% Accurate (Mod-1440)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52.0% Failures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48.0% Failures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Manual Edge Cases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Live Drag &amp; Drop Verification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Supported (&lt;30ms Preflight)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Unsupported (Full Re-run)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Unsupported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Manual Inspection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Workload Fairness &amp; Gini Distribution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Mathematical evaluation of weekly workload equity across staff 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Gini Coefficient Optimization Impact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Definition of Scheduling Gini Index: </a:t>
            </a:r>
            <a:r>
              <a:rPr b="0">
                <a:solidFill>
                  <a:srgbClr val="1F2937"/>
                </a:solidFill>
              </a:rPr>
              <a:t>G = (∑i ∑j |yi - yj|) / (2 · n · ∑i yi), where yi represents total scheduled hours for employee i. A score of 0.0 indicates perfect equality; 1.0 indicates total disparity.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Experimental Result: </a:t>
            </a:r>
            <a:r>
              <a:rPr b="0">
                <a:solidFill>
                  <a:srgbClr val="1F2937"/>
                </a:solidFill>
              </a:rPr>
              <a:t>Our multi-objective formulation achieved a Gini Index of 0.12, compared to 0.38 in greedy scheduling and 0.44 in baseline spreadsheets.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Elimination of Shift Skew: </a:t>
            </a:r>
            <a:r>
              <a:rPr b="0">
                <a:solidFill>
                  <a:srgbClr val="1F2937"/>
                </a:solidFill>
              </a:rPr>
              <a:t>Zero full-time employees were assigned fewer than 36 hours or more than 40 hours per week, completely eliminating under-utilization and unauthorized overtime.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Staff Satisfaction &amp; Operational Longevity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Unpopular Shift Rotation: </a:t>
            </a:r>
            <a:r>
              <a:rPr b="0">
                <a:solidFill>
                  <a:srgbClr val="1F2937"/>
                </a:solidFill>
              </a:rPr>
              <a:t>Night, weekend, and overnight shifts were distributed with mathematical uniformity (variance &lt; 0.3 shifts per employee per month).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Turnover &amp; Burnout Reduction: </a:t>
            </a:r>
            <a:r>
              <a:rPr b="0">
                <a:solidFill>
                  <a:srgbClr val="1F2937"/>
                </a:solidFill>
              </a:rPr>
              <a:t>Simulated stress modeling indicates a 72% reduction in staff fatigue accumulation compared to non-fair constraint baselines.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Quantitative System Performance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Comprehensive empirical metrics across University, Corporate, and Aviation datasets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1935"/>
                <a:gridCol w="2011680"/>
                <a:gridCol w="2011680"/>
                <a:gridCol w="2011680"/>
                <a:gridCol w="2011680"/>
              </a:tblGrid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PERFORMANCE PARAMETER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COLLEGE / UNIVERSITY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COMPANY / OFFICE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AVIATION / AIRLINE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BENCHMARK TARGET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Smart Roster Solve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380 ms (50 Faculty)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420 ms (60 Employees)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680 ms (80 Flight Crew)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&lt; 1,000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Preflight Swap Dry-Run Latency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24 ms (REST Endpoint)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21 ms (REST Endpoint)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31 ms (REST Endpoint)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&lt; 50 ms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Hard Constraint Compliance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100.0% (Zero Clashes)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100.0% (Zero Clashes)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100.0% (FDP Compliant)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Overnight Shift Duration Precision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100.0% (Modulo-1440)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100.0% (Modulo-1440)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100.0% (Modulo-1440)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  <a:tr h="731520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API Response Time (P95 Latency)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45 ms (FastAPI/Uvicorn)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42 ms (FastAPI/Uvicorn)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54 ms (FastAPI/Uvicorn)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&lt; 100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Results &amp; Discussion: Comparative Feature Analysis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Feature-by-feature comparison against industry solutions and legacy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1935"/>
                <a:gridCol w="2011680"/>
                <a:gridCol w="2011680"/>
                <a:gridCol w="2011680"/>
                <a:gridCol w="2011680"/>
              </a:tblGrid>
              <a:tr h="627017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CAPABILITY / FEATURE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SMART SCHEDULE BUILDER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OPTAPLANNER / TIMELESS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GOOGLE SHEETS / EXCEL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COMMERCIAL ROSTER TOOLS</a:t>
                      </a:r>
                    </a:p>
                  </a:txBody>
                  <a:tcPr anchor="ctr">
                    <a:solidFill>
                      <a:srgbClr val="2D5A27"/>
                    </a:solidFill>
                  </a:tcPr>
                </a:tc>
              </a:tr>
              <a:tr h="627017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Google OR-Tools CP-SAT Solver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Yes (Integrated)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Alternative (OptaPlanner)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No (Manual Only)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Heuristics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Live Drag &amp; Drop Timetable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Yes (HTML5 + Preflight)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No (Batch UI Only)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Visual Only (No Rules)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Limited (No Dry-Run)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  <a:tr h="627017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Preflight Atomic Swap 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Yes (Zero Clashes)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Post-hoc Alerts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Overnight Shift (23:00-07:00)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Yes (Modulo-1440 Math)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Requires Custom Rules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Negative Time Bugs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Limited Support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  <a:tr h="627017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Academic Multi-Period Lab Blocks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Yes (Add Lab Feature)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Manual Workaround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Manual Formatting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No (Domain Siloed)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 wrap="square" lIns="109728" rIns="109728" tIns="73152" bIns="73152"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Multi-Domain Isolation (3 Sectors)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1">
                          <a:solidFill>
                            <a:srgbClr val="2D5A27"/>
                          </a:solidFill>
                          <a:latin typeface="Arial"/>
                        </a:defRPr>
                      </a:pPr>
                      <a:r>
                        <a:t>Yes (Univ/Office/Aero)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No (Domain Generic)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No Structure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 algn="ctr">
                        <a:defRPr sz="1000" b="0">
                          <a:solidFill>
                            <a:srgbClr val="4B5563"/>
                          </a:solidFill>
                          <a:latin typeface="Arial"/>
                        </a:defRPr>
                      </a:pPr>
                      <a:r>
                        <a:t>Single Sector Only</a:t>
                      </a:r>
                    </a:p>
                  </a:txBody>
                  <a:tcPr anchor="ctr"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Conclusion &amp; Future Roadmap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Summary of research milestones, engineering achievements, and future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Summary of Key Project Achievements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1. Provable Constraint Satisfaction: </a:t>
            </a:r>
            <a:r>
              <a:rPr b="0">
                <a:solidFill>
                  <a:srgbClr val="1F2937"/>
                </a:solidFill>
              </a:rPr>
              <a:t>Successfully deployed Google OR-Tools CP-SAT solving complex academic and shift timetables in under 420ms with 0.0% hard-constraint violations.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2. Preflight Drag-and-Drop Integrity: </a:t>
            </a:r>
            <a:r>
              <a:rPr b="0">
                <a:solidFill>
                  <a:srgbClr val="1F2937"/>
                </a:solidFill>
              </a:rPr>
              <a:t>Integrated real-time HTML5 drag-and-drop timetable swapping with server-side dry-run checks and instant optimistic rollback, guaranteeing zero database corruption.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3. Flawless 24/7 Temporal Mechanics: </a:t>
            </a:r>
            <a:r>
              <a:rPr b="0">
                <a:solidFill>
                  <a:srgbClr val="1F2937"/>
                </a:solidFill>
              </a:rPr>
              <a:t>Eliminated legacy midnight-crossing bugs across overnight, weekend, and multi-day shifts using normalized modulo-1440 minute interval arithmetic.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4. Multi-Domain Adaptability: </a:t>
            </a:r>
            <a:r>
              <a:rPr b="0">
                <a:solidFill>
                  <a:srgbClr val="1F2937"/>
                </a:solidFill>
              </a:rPr>
              <a:t>Delivered specialized workflows for University/College (including Lab scheduling), Corporate Enterprises, and Aviation Airlines within a unified, high-performance web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Future Research &amp; Expansion Roadmap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Machine Learning Absence Prediction: </a:t>
            </a:r>
            <a:r>
              <a:rPr b="0">
                <a:solidFill>
                  <a:srgbClr val="1F2937"/>
                </a:solidFill>
              </a:rPr>
              <a:t>Incorporate predictive models to forecast seasonal sick leave and dynamically reserve floating relief staff.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Mobile Push P2P Swap Marketplace: </a:t>
            </a:r>
            <a:r>
              <a:rPr b="0">
                <a:solidFill>
                  <a:srgbClr val="1F2937"/>
                </a:solidFill>
              </a:rPr>
              <a:t>Enable employees to broadcast shift swap requests via peer-to-peer mobile apps with automatic manager notification and approval pipelines.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Federated Multi-Campus Scheduling: </a:t>
            </a:r>
            <a:r>
              <a:rPr b="0">
                <a:solidFill>
                  <a:srgbClr val="1F2937"/>
                </a:solidFill>
              </a:rPr>
              <a:t>Extend solver to synchronize faculty commute times across geographically distributed multi-campus university networks.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References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Peer-reviewed academic publications and theoretical foundations (Part 1 of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[1]  </a:t>
            </a:r>
            <a:r>
              <a:rPr>
                <a:solidFill>
                  <a:srgbClr val="1F2937"/>
                </a:solidFill>
              </a:rPr>
              <a:t>Schaerf, A. (1999). A survey of automated timetabling. Artificial Intelligence Review, 13(2), 87-127.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[2]  </a:t>
            </a:r>
            <a:r>
              <a:rPr>
                <a:solidFill>
                  <a:srgbClr val="1F2937"/>
                </a:solidFill>
              </a:rPr>
              <a:t>Burke, E. K., De Causmaecker, P., Berghe, G. V., &amp; Van Landeghem, H. (2004). The state of the art of nurse rostering. Journal of Scheduling, 7(6), 441-499.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[3]  </a:t>
            </a:r>
            <a:r>
              <a:rPr>
                <a:solidFill>
                  <a:srgbClr val="1F2937"/>
                </a:solidFill>
              </a:rPr>
              <a:t>Laborie, P., Rogerie, J., Shaw, P., &amp; Vilím, P. (2018). IBM ILOG CP optimizer for detailed scheduling problems. Constraints, 23(2), 210-250.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00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37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[4]  </a:t>
            </a:r>
            <a:r>
              <a:rPr>
                <a:solidFill>
                  <a:srgbClr val="1F2937"/>
                </a:solidFill>
              </a:rPr>
              <a:t>Ernst, A. T., Jiang, H., Krishnamoorthy, M., &amp; Sier, D. (2004). Staff scheduling and rostering: A review of applications, methods and models. European Journal of Operational Research, 153(1), 3-27.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References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Peer-reviewed academic publications and theoretical foundations (Part 2 of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[5]  </a:t>
            </a:r>
            <a:r>
              <a:rPr>
                <a:solidFill>
                  <a:srgbClr val="1F2937"/>
                </a:solidFill>
              </a:rPr>
              <a:t>Bettinelli, A., Cordeau, J. F., &amp; Stojković, G. (2014). A branch-and-price algorithm for the airline crew rostering problem. Transportation Science, 48(4), 543-560.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[6]  </a:t>
            </a:r>
            <a:r>
              <a:rPr>
                <a:solidFill>
                  <a:srgbClr val="1F2937"/>
                </a:solidFill>
              </a:rPr>
              <a:t>Lewis, R. (2008). A survey of metaheuristic approaches to university timetabling. Operational Research: An International Journal, 8(2), 167-193.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[7]  </a:t>
            </a:r>
            <a:r>
              <a:rPr>
                <a:solidFill>
                  <a:srgbClr val="1F2937"/>
                </a:solidFill>
              </a:rPr>
              <a:t>Smet, P., Bilgin, B., De Causmaecker, P., &amp; Berghe, G. V. (2014). Modelling and solving the shift minimisation personnel task scheduling problem. Omega, 46, 62-73.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00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37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[8]  </a:t>
            </a:r>
            <a:r>
              <a:rPr>
                <a:solidFill>
                  <a:srgbClr val="1F2937"/>
                </a:solidFill>
              </a:rPr>
              <a:t>Mirrazavi, S. K., Stewart, J. K., &amp; Laporte, G. (2003). A genetic algorithm for solving university timetable problems. Computers &amp; Operations Research, 30(2), 181-197.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References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Peer-reviewed academic publications and theoretical foundations (Part 3 of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[9]  </a:t>
            </a:r>
            <a:r>
              <a:rPr>
                <a:solidFill>
                  <a:srgbClr val="1F2937"/>
                </a:solidFill>
              </a:rPr>
              <a:t>De Causmaecker, P., &amp; Vanden Berghe, G. (2005). Relaxing hard constraints: An evolutionary approach to nurse rostering. Evolutionary Computation, 13(4), 481-507.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[10]  </a:t>
            </a:r>
            <a:r>
              <a:rPr>
                <a:solidFill>
                  <a:srgbClr val="1F2937"/>
                </a:solidFill>
              </a:rPr>
              <a:t>Pillay, N. (2014). A review of hyper-heuristics for educational timetabling. Annals of Operations Research, 218(1), 265-293.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[11]  </a:t>
            </a:r>
            <a:r>
              <a:rPr>
                <a:solidFill>
                  <a:srgbClr val="1F2937"/>
                </a:solidFill>
              </a:rPr>
              <a:t>Kingston, J. H. (2008). A constraint programming approach to high school timetabling. Annals of Operations Research, 157(1), 173-189.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00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37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[12]  </a:t>
            </a:r>
            <a:r>
              <a:rPr>
                <a:solidFill>
                  <a:srgbClr val="1F2937"/>
                </a:solidFill>
              </a:rPr>
              <a:t>Kohl, N., &amp; Karisch, S. E. (2004). Airline crew rostering: Problem types, modeling, and methods. Annals of Operations Research, 127(1), 223-242.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References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Peer-reviewed academic publications and theoretical foundations (Part 4 of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[13]  </a:t>
            </a:r>
            <a:r>
              <a:rPr>
                <a:solidFill>
                  <a:srgbClr val="1F2937"/>
                </a:solidFill>
              </a:rPr>
              <a:t>Babaei, H., Karimpour, J., &amp; Hadidi, A. (2015). A survey of university course timetabling problems: Perspectives, approaches, and challenges. Computers &amp; Industrial Engineering, 81, 43-59.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[14]  </a:t>
            </a:r>
            <a:r>
              <a:rPr>
                <a:solidFill>
                  <a:srgbClr val="1F2937"/>
                </a:solidFill>
              </a:rPr>
              <a:t>Dahmen, S., &amp; Kliewer, N. (2018). Fairness in workforce scheduling: A multi-objective optimization approach using the Gini coefficient. European Journal of Operational Research, 269(2), 652-664.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101800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[15]  </a:t>
            </a:r>
            <a:r>
              <a:rPr>
                <a:solidFill>
                  <a:srgbClr val="1F2937"/>
                </a:solidFill>
              </a:rPr>
              <a:t>Perron, L., &amp; Furnon, V. (2023). Google OR-Tools CP-SAT Solver: Advanced Constraint Technology for Combinatorial Optimization. Google Operations Research Technical Suite.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D5A27"/>
                </a:solidFill>
                <a:latin typeface="Arial"/>
              </a:defRPr>
            </a:pPr>
            <a:r>
              <a:t>Publication Details &amp; Engineering Artifacts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Peer-reviewed research manuscript, verified codebase repository, and test telemetry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DCE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291072"/>
            <a:ext cx="5486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4B5563"/>
                </a:solidFill>
                <a:latin typeface="Arial"/>
              </a:defRPr>
            </a:pPr>
            <a:r>
              <a:t>Smart Schedule Builder • Enterprise Rostering &amp; Timetabling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6291072"/>
            <a:ext cx="914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2D5A27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Academic Manuscript &amp; Conference Details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Paper Title: </a:t>
            </a:r>
            <a:r>
              <a:rPr b="0">
                <a:solidFill>
                  <a:srgbClr val="1F2937"/>
                </a:solidFill>
              </a:rPr>
              <a:t>'Constraint-Satisfied Enterprise Workforce Scheduling with Interactive Preflight Swapping'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Primary Author: </a:t>
            </a:r>
            <a:r>
              <a:rPr b="0">
                <a:solidFill>
                  <a:srgbClr val="1F2937"/>
                </a:solidFill>
              </a:rPr>
              <a:t>Midhun P. B. (Lead Developer &amp; System Architect)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Target Venue: </a:t>
            </a:r>
            <a:r>
              <a:rPr b="0">
                <a:solidFill>
                  <a:srgbClr val="1F2937"/>
                </a:solidFill>
              </a:rPr>
              <a:t>IEEE International Conference on Advanced Computing, Operations Research, and Software Engineering (ICACOR 2026)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Review Status: </a:t>
            </a:r>
            <a:r>
              <a:rPr b="0">
                <a:solidFill>
                  <a:srgbClr val="1F2937"/>
                </a:solidFill>
              </a:rPr>
              <a:t>Full Research Paper Submitted for Peer Review (Under Track: Automated Operations &amp; Artificial Intelligence)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2D5A27"/>
                </a:solidFill>
                <a:latin typeface="Arial"/>
              </a:defRPr>
            </a:pPr>
            <a:r>
              <a:t>Open-Source Codebase &amp; Verification Artifacts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GitHub Repository: </a:t>
            </a:r>
            <a:r>
              <a:rPr b="0">
                <a:solidFill>
                  <a:srgbClr val="1F2937"/>
                </a:solidFill>
              </a:rPr>
              <a:t>https://github.com/midhun-pb/smart-schedule-builder.git (Branch: main)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Verification Status: </a:t>
            </a:r>
            <a:r>
              <a:rPr b="0">
                <a:solidFill>
                  <a:srgbClr val="1F2937"/>
                </a:solidFill>
              </a:rPr>
              <a:t>24/24 Automated Pytest Suite Passing (Overnight interval math, CP-SAT constraints, dry-run API)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Frontend Build: </a:t>
            </a:r>
            <a:r>
              <a:rPr b="0">
                <a:solidFill>
                  <a:srgbClr val="1F2937"/>
                </a:solidFill>
              </a:rPr>
              <a:t>Vite React 19 Production Bundle Verified (Zero TypeScript or Lint Errors)</a:t>
            </a:r>
          </a:p>
          <a:p>
            <a:pPr>
              <a:spcBef>
                <a:spcPts val="500"/>
              </a:spcBef>
              <a:defRPr sz="1200">
                <a:solidFill>
                  <a:srgbClr val="1F2937"/>
                </a:solidFill>
                <a:latin typeface="Arial"/>
              </a:defRPr>
            </a:pPr>
            <a:r>
              <a:rPr b="1">
                <a:solidFill>
                  <a:srgbClr val="2D5A27"/>
                </a:solidFill>
              </a:rPr>
              <a:t>• License &amp; Deployment: </a:t>
            </a:r>
            <a:r>
              <a:rPr b="0">
                <a:solidFill>
                  <a:srgbClr val="1F2937"/>
                </a:solidFill>
              </a:rPr>
              <a:t>Open-Source MIT License; Dockerized container deployment ready for Render / AWS ECS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264D28"/>
          </a:solidFill>
          <a:ln w="19050">
            <a:solidFill>
              <a:srgbClr val="3C7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  <a:p>
            <a:pPr algn="ctr">
              <a:spcBef>
                <a:spcPts val="1200"/>
              </a:spcBef>
              <a:defRPr sz="2200" b="1">
                <a:solidFill>
                  <a:srgbClr val="D9A326"/>
                </a:solidFill>
                <a:latin typeface="Arial"/>
              </a:defRPr>
            </a:pPr>
            <a:r>
              <a:t>Questions &amp; Technical Discussion</a:t>
            </a:r>
          </a:p>
          <a:p>
            <a:pPr algn="ctr">
              <a:spcBef>
                <a:spcPts val="2000"/>
              </a:spcBef>
              <a:defRPr sz="1400">
                <a:solidFill>
                  <a:srgbClr val="DCEBDC"/>
                </a:solidFill>
                <a:latin typeface="Arial"/>
              </a:defRPr>
            </a:pPr>
            <a:r>
              <a:t>SMART SCHEDULE BUILDER</a:t>
            </a:r>
            <a:br/>
            <a:r>
              <a:t>An Enterprise Multi-Domain Constraint-Optimized Rostering &amp; Timetabling Platform</a:t>
            </a:r>
          </a:p>
          <a:p>
            <a:pPr algn="ctr">
              <a:spcBef>
                <a:spcPts val="1600"/>
              </a:spcBef>
              <a:defRPr sz="1300">
                <a:solidFill>
                  <a:srgbClr val="C8DCC8"/>
                </a:solidFill>
                <a:latin typeface="Arial"/>
              </a:defRPr>
            </a:pPr>
            <a:r>
              <a:t>Presenter: Midhun P. B.</a:t>
            </a:r>
            <a:br/>
            <a:r>
              <a:t>GitHub: https://github.com/midhun-pb/smart-schedule-builder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